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93992"/>
            <a:ext cx="3047923" cy="64008"/>
          </a:xfrm>
          <a:prstGeom prst="rect">
            <a:avLst/>
          </a:prstGeom>
          <a:solidFill>
            <a:srgbClr val="F9C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6793992"/>
            <a:ext cx="3047923" cy="64008"/>
          </a:xfrm>
          <a:prstGeom prst="rect">
            <a:avLst/>
          </a:prstGeom>
          <a:solidFill>
            <a:srgbClr val="F07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6793992"/>
            <a:ext cx="3047923" cy="64008"/>
          </a:xfrm>
          <a:prstGeom prst="rect">
            <a:avLst/>
          </a:prstGeom>
          <a:solidFill>
            <a:srgbClr val="ED0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6793992"/>
            <a:ext cx="3047926" cy="64008"/>
          </a:xfrm>
          <a:prstGeom prst="rect">
            <a:avLst/>
          </a:prstGeom>
          <a:solidFill>
            <a:srgbClr val="664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3A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3A3A3"/>
                </a:solidFill>
                <a:latin typeface="IBM Plex Mono"/>
              </a:rPr>
              <a:t>01</a:t>
            </a:r>
          </a:p>
        </p:txBody>
      </p:sp>
      <p:pic>
        <p:nvPicPr>
          <p:cNvPr id="8" name="Picture 7" descr="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"/>
            <a:ext cx="2194560" cy="290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331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A78BFA"/>
                </a:solidFill>
                <a:latin typeface="Space Grotesk"/>
              </a:rPr>
              <a:t>PULSE · CUSTOMER COMMUNICATIONS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spc="-10">
                <a:solidFill>
                  <a:srgbClr val="FFFFFF"/>
                </a:solidFill>
                <a:latin typeface="Space Grotesk"/>
              </a:rPr>
              <a:t>Sending release emails to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A3A3A3"/>
                </a:solidFill>
                <a:latin typeface="IBM Plex Sans"/>
              </a:rPr>
              <a:t>A step-by-step guide for Product managers and System admins: from a published release to delivered, measured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3A3A3"/>
                </a:solidFill>
                <a:latin typeface="IBM Plex Mono"/>
              </a:rPr>
              <a:t>October 2026 · DataCentral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02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spc="-10">
                <a:solidFill>
                  <a:srgbClr val="171717"/>
                </a:solidFill>
                <a:latin typeface="Space Grotesk"/>
              </a:rPr>
              <a:t>Six steps from a published release to a delivered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783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208483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84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23744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Publish the release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0358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37373"/>
                </a:solidFill>
                <a:latin typeface="IBM Plex Sans"/>
              </a:rPr>
              <a:t>Releases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670048"/>
            <a:ext cx="105156" cy="1828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45436" y="1920240"/>
            <a:ext cx="1783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10028" y="208483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0028" y="2084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0028" y="2523744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Draft customer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0028" y="30358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37373"/>
                </a:solidFill>
                <a:latin typeface="IBM Plex Sans"/>
              </a:rPr>
              <a:t>One click on the release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28516" y="2670048"/>
            <a:ext cx="105156" cy="1828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3672" y="1920240"/>
            <a:ext cx="1783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98264" y="208483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2084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2523744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Write the content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8264" y="30358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37373"/>
                </a:solidFill>
                <a:latin typeface="IBM Plex Sans"/>
              </a:rPr>
              <a:t>Editor ·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16752" y="2670048"/>
            <a:ext cx="105156" cy="1828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1908" y="1920240"/>
            <a:ext cx="1783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86500" y="208483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6500" y="2084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0" y="2523744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Choose the audience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30358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37373"/>
                </a:solidFill>
                <a:latin typeface="IBM Plex Sans"/>
              </a:rPr>
              <a:t>Editor · Audience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4988" y="2670048"/>
            <a:ext cx="105156" cy="1828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10144" y="1920240"/>
            <a:ext cx="1783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74736" y="208483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2523744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Review &amp; send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30358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37373"/>
                </a:solidFill>
                <a:latin typeface="IBM Plex Sans"/>
              </a:rPr>
              <a:t>Test, schedule or send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93224" y="2670048"/>
            <a:ext cx="105156" cy="18288"/>
          </a:xfrm>
          <a:prstGeom prst="rect">
            <a:avLst/>
          </a:prstGeom>
          <a:solidFill>
            <a:srgbClr val="A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98380" y="1920240"/>
            <a:ext cx="17830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62972" y="208483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62972" y="208483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62972" y="2523744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Track 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2972" y="3035808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37373"/>
                </a:solidFill>
                <a:latin typeface="IBM Plex Sans"/>
              </a:rPr>
              <a:t>Communication detail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86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WHO DOES WHAT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51960"/>
            <a:ext cx="3576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Product managers and System admins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709160"/>
            <a:ext cx="357621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04040"/>
                </a:solidFill>
                <a:latin typeface="IBM Plex Sans"/>
              </a:rPr>
              <a:t>Write, test and send communications. The rest of the DataCentral team reads the lists and the delivery results.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07738" y="4251960"/>
            <a:ext cx="3576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System admins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7738" y="4709160"/>
            <a:ext cx="357621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04040"/>
                </a:solidFill>
                <a:latin typeface="IBM Plex Sans"/>
              </a:rPr>
              <a:t>Own the Settings card: enable sending, choose the sender, keep safe mode on until the first real send, verify the configuration.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58276" y="4251960"/>
            <a:ext cx="35762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Company admins at the customer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8276" y="4709160"/>
            <a:ext cx="357621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04040"/>
                </a:solidFill>
                <a:latin typeface="IBM Plex Sans"/>
              </a:rPr>
              <a:t>Keep their own recipient list on the Updates page. Every member switches each topic on or off for themselves.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03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BEFORE YOU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46634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spc="-10">
                <a:solidFill>
                  <a:srgbClr val="171717"/>
                </a:solidFill>
                <a:latin typeface="Space Grotesk"/>
              </a:rPr>
              <a:t>Before the first send: configure SendGrid once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93586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448056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Settings → “Customer communications (SendGrid)”. Only System admins see this card.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92425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084"/>
            <a:ext cx="448056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Turn on “Enable sending”. Until then the worker and the Send action stay disabled.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84899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7649"/>
            <a:ext cx="448056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Set “From name” and a “From address (verified in SendGrid)”; add a “Reply-to” if replies should land elsewhere.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305555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4214"/>
            <a:ext cx="4480560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Enter the “Unsubscribe group id (ASM)”. It is required once safe mode is off, so every mail carries an unsubscribe link.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944682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3341"/>
            <a:ext cx="4480560" cy="547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Keep “Safe mode” on until the first real send: only the allow-listed domains receive mail, everyone else is recorded as suppressed.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83809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2468"/>
            <a:ext cx="448056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Press “Send configuration test” and check the mail that reaches your own address.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16193"/>
            <a:ext cx="4663440" cy="1238887"/>
          </a:xfrm>
          <a:prstGeom prst="rect">
            <a:avLst/>
          </a:prstGeom>
          <a:solidFill>
            <a:srgbClr val="F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16193"/>
            <a:ext cx="36576" cy="1238887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25921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1717"/>
                </a:solidFill>
                <a:latin typeface="Space Grotesk"/>
              </a:rPr>
              <a:t>Keys never live on this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00241"/>
            <a:ext cx="4343400" cy="781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04040"/>
                </a:solidFill>
                <a:latin typeface="IBM Plex Sans"/>
              </a:rPr>
              <a:t>The SendGrid API key and the event-webhook key come from Key Vault. The status pills at the top of the card tell you when one is missing.</a:t>
            </a:r>
          </a:p>
        </p:txBody>
      </p:sp>
      <p:pic>
        <p:nvPicPr>
          <p:cNvPr id="23" name="Picture 22" descr="settings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6202375" cy="3026843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532120" y="1325880"/>
            <a:ext cx="6202375" cy="3026843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04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STEP 1 OF 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77724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13232"/>
            <a:ext cx="4114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spc="-10">
                <a:solidFill>
                  <a:srgbClr val="171717"/>
                </a:solidFill>
                <a:latin typeface="Space Grotesk"/>
              </a:rPr>
              <a:t>Publish the release, then draft the email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4119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Open Releases in the “DataCentral team” menu. Create the release as usual and publish it.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429509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2834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Published releases show “Draft customer email” on the card. Drafts do not.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1782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51149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One click creates a product update from the release: title, availability and summary are carried over.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406139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39464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The new draft opens in the Communications editor with its own id, for example COM-002, linked to the release.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4663440" cy="1325880"/>
          </a:xfrm>
          <a:prstGeom prst="rect">
            <a:avLst/>
          </a:prstGeom>
          <a:solidFill>
            <a:srgbClr val="F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6320"/>
            <a:ext cx="3657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1717"/>
                </a:solidFill>
                <a:latin typeface="Space Grotesk"/>
              </a:rPr>
              <a:t>Starting without a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30368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04040"/>
                </a:solidFill>
                <a:latin typeface="IBM Plex Sans"/>
              </a:rPr>
              <a:t>The Communications page also offers “New product update”, “Service notice” and “Announcement” for mail that is not tied to a release.</a:t>
            </a:r>
          </a:p>
        </p:txBody>
      </p:sp>
      <p:pic>
        <p:nvPicPr>
          <p:cNvPr id="21" name="Picture 20" descr="rele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6202375" cy="346299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532120" y="1325880"/>
            <a:ext cx="6202375" cy="3462992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05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STEP 2 OF 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77724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13232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spc="-10">
                <a:solidFill>
                  <a:srgbClr val="171717"/>
                </a:solidFill>
                <a:latin typeface="Space Grotesk"/>
              </a:rPr>
              <a:t>Write the content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4119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Subject and Title are required; Eyebrow, Subtitle and Introduction frame the message.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429509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2834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Add one highlight per change: a heading, a short text, an optional callout (note or action required) and an optional link.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116261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49586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Finish with a call to action, for example “Open the release notes”, and the sign-off from Settings.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04576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37901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Switch “Content language” to Icelandic to add the Icelandic text; “Copy from English” gives you a starting point. Missing Icelandic falls back to English.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291328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24653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The preview on the right shows the saved draft in the language you are editing. Save, then check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50128"/>
            <a:ext cx="4663440" cy="1325880"/>
          </a:xfrm>
          <a:prstGeom prst="rect">
            <a:avLst/>
          </a:prstGeom>
          <a:solidFill>
            <a:srgbClr val="F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50128"/>
            <a:ext cx="36576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59856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1717"/>
                </a:solidFill>
                <a:latin typeface="Space Grotesk"/>
              </a:rPr>
              <a:t>Writing for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34176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04040"/>
                </a:solidFill>
                <a:latin typeface="IBM Plex Sans"/>
              </a:rPr>
              <a:t>Short sentences, active voice, numbers over adjectives. **bold** and [label](https://…) links are supported in highlight text.</a:t>
            </a:r>
          </a:p>
        </p:txBody>
      </p:sp>
      <p:pic>
        <p:nvPicPr>
          <p:cNvPr id="23" name="Picture 22" descr="editor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6202375" cy="429996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532120" y="1325880"/>
            <a:ext cx="6202375" cy="4299965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06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STEP 3 OF 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77724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13232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spc="-10">
                <a:solidFill>
                  <a:srgbClr val="171717"/>
                </a:solidFill>
                <a:latin typeface="Space Grotesk"/>
              </a:rPr>
              <a:t>Choose the audience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4119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Pick “All customer and partner companies” or “Selected companies”.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429509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62834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Active Pulse members receive the mail according to their own topic preferences; contacts receive it when subscribed to the topic.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116261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49586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Companies still onboarding and test companies are left out unless you include them. “Send a copy to the DataCentral team” adds the staff copy.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803013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6338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Narrow by member role: all roles, Company admins and requesters, or Company admins only.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291328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24653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Addresses on the Suppressions tab and, in safe mode, domains outside the allow-list never receive mail. The counts show who is left out and why.</a:t>
            </a:r>
          </a:p>
        </p:txBody>
      </p:sp>
      <p:pic>
        <p:nvPicPr>
          <p:cNvPr id="19" name="Picture 18" descr="editor-aud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6202375" cy="43596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532120" y="1325880"/>
            <a:ext cx="6202375" cy="435964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07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STEP 4 OF 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77724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13232"/>
            <a:ext cx="4114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spc="-10">
                <a:solidFill>
                  <a:srgbClr val="171717"/>
                </a:solidFill>
                <a:latin typeface="Space Grotesk"/>
              </a:rPr>
              <a:t>Review &amp; send: test, schedule or send now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4119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The summary repeats subject, template and topic, with the counts: companies, members, contacts and “Will receive”.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27946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1271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A notice tells you when sending is disabled, in sandbox mode or in safe mode. Read it before you send.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116261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49586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Press “Send test to me”. The mail arrives at your own address marked [TEST] and never counts in the results.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04576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37901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Leave the schedule empty and press “Send now”, or pick a time in your local time and press “Schedule”. Both ask you to confirm.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291328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24653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Content and audience are frozen once sending starts. “Unschedule” returns a scheduled mail to a draft; “Cancel sending” stops what SendGrid has not received yet.</a:t>
            </a:r>
          </a:p>
        </p:txBody>
      </p:sp>
      <p:pic>
        <p:nvPicPr>
          <p:cNvPr id="19" name="Picture 18" descr="editor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6202375" cy="489897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532120" y="1325880"/>
            <a:ext cx="6202375" cy="4898977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08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STEP 5 OF 6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77724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13232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spc="-10">
                <a:solidFill>
                  <a:srgbClr val="171717"/>
                </a:solidFill>
                <a:latin typeface="Space Grotesk"/>
              </a:rPr>
              <a:t>Track delivery and follow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04040"/>
                </a:solidFill>
                <a:latin typeface="IBM Plex Sans"/>
              </a:rPr>
              <a:t>The Communications list shows every campaign with its status, recipients and send time; open one for the detail page.</a:t>
            </a:r>
          </a:p>
        </p:txBody>
      </p:sp>
      <p:pic>
        <p:nvPicPr>
          <p:cNvPr id="10" name="Picture 9" descr="communication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1277295" cy="10661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1737360"/>
            <a:ext cx="11277295" cy="1066130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Each recipient moves through these states on the communication detail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84448"/>
            <a:ext cx="811987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3685032"/>
            <a:ext cx="73152" cy="73152"/>
          </a:xfrm>
          <a:prstGeom prst="ellipse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584448"/>
            <a:ext cx="53766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Queued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8915" y="3584448"/>
            <a:ext cx="954633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88643" y="368503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16659" y="3584448"/>
            <a:ext cx="68031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Accepted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43276" y="3584448"/>
            <a:ext cx="1025956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53004" y="368503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81020" y="3584448"/>
            <a:ext cx="7516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Delivered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78960" y="3584448"/>
            <a:ext cx="954633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88688" y="3685032"/>
            <a:ext cx="73152" cy="731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6704" y="3584448"/>
            <a:ext cx="68031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Deferred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43321" y="3584448"/>
            <a:ext cx="883310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53049" y="368503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1065" y="3584448"/>
            <a:ext cx="6089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Bounced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6359" y="3584448"/>
            <a:ext cx="883310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746087" y="368503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4103" y="3584448"/>
            <a:ext cx="6089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Dropped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397" y="3584448"/>
            <a:ext cx="1168603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39125" y="368503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1" y="3584448"/>
            <a:ext cx="89428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Dead letter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7728" y="3584448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17456" y="3685032"/>
            <a:ext cx="73152" cy="73152"/>
          </a:xfrm>
          <a:prstGeom prst="ellipse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5472" y="35844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Suppressed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14736" y="3584448"/>
            <a:ext cx="1025956" cy="274320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24464" y="3685032"/>
            <a:ext cx="73152" cy="73152"/>
          </a:xfrm>
          <a:prstGeom prst="ellipse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52480" y="3584448"/>
            <a:ext cx="7516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71717"/>
                </a:solidFill>
                <a:latin typeface="IBM Plex Sans"/>
              </a:rPr>
              <a:t>Cancelled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4181475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114800"/>
            <a:ext cx="530352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Queued, Accepted and Delivered are the normal path: Pulse hands the mail to SendGrid, which confirms delivery.</a:t>
            </a:r>
          </a:p>
        </p:txBody>
      </p:sp>
      <p:sp>
        <p:nvSpPr>
          <p:cNvPr id="42" name="Oval 41"/>
          <p:cNvSpPr/>
          <p:nvPr/>
        </p:nvSpPr>
        <p:spPr>
          <a:xfrm>
            <a:off x="457200" y="466979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603115"/>
            <a:ext cx="530352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Deferred means the receiving server asked for more time; Pulse retries by itself.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" y="5158105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091430"/>
            <a:ext cx="530352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Dead letter means every attempt failed. “Retry dead letters” queues those recipients again.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564642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579745"/>
            <a:ext cx="530352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Suppressed recipients were left out before sending: unsubscribed, bounced, or outside safe mode.</a:t>
            </a:r>
          </a:p>
        </p:txBody>
      </p:sp>
      <p:sp>
        <p:nvSpPr>
          <p:cNvPr id="48" name="Oval 47"/>
          <p:cNvSpPr/>
          <p:nvPr/>
        </p:nvSpPr>
        <p:spPr>
          <a:xfrm>
            <a:off x="6309360" y="4181475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114800"/>
            <a:ext cx="521208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Opens and clicks are counted separately when tracking is on in Settings.</a:t>
            </a:r>
          </a:p>
        </p:txBody>
      </p:sp>
      <p:sp>
        <p:nvSpPr>
          <p:cNvPr id="50" name="Oval 49"/>
          <p:cNvSpPr/>
          <p:nvPr/>
        </p:nvSpPr>
        <p:spPr>
          <a:xfrm>
            <a:off x="6309360" y="466979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603115"/>
            <a:ext cx="521208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Filter the recipients by company or state; the last event and its time are shown per row.</a:t>
            </a:r>
          </a:p>
        </p:txBody>
      </p:sp>
      <p:sp>
        <p:nvSpPr>
          <p:cNvPr id="52" name="Oval 51"/>
          <p:cNvSpPr/>
          <p:nvPr/>
        </p:nvSpPr>
        <p:spPr>
          <a:xfrm>
            <a:off x="6309360" y="5158105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5091430"/>
            <a:ext cx="521208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“Cancel sending” stops what SendGrid has not received yet; mail already handed over is not recalled.</a:t>
            </a:r>
          </a:p>
        </p:txBody>
      </p:sp>
      <p:sp>
        <p:nvSpPr>
          <p:cNvPr id="54" name="Oval 53"/>
          <p:cNvSpPr/>
          <p:nvPr/>
        </p:nvSpPr>
        <p:spPr>
          <a:xfrm>
            <a:off x="6309360" y="564642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5579745"/>
            <a:ext cx="521208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“Duplicate” starts the next communication from a sent one with the same content and audience.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09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STEP 6 OF 6 · RECIPIENTS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77724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pace Grotes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713232"/>
            <a:ext cx="4114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spc="-10">
                <a:solidFill>
                  <a:srgbClr val="171717"/>
                </a:solidFill>
                <a:latin typeface="Space Grotesk"/>
              </a:rPr>
              <a:t>Who receives it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94119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Every Pulse member decides on the Updates page, under “Notification preferences”, whether to receive product updates, service notices and general announcements.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627946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1271"/>
            <a:ext cx="4480560" cy="396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Security advisories are always delivered; the switch is locked on.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116261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49586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People without a Pulse account live on the Contacts tab of the Communications page: add them one by one or with “Paste list”, with a language and topics.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803013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36338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Company admins keep their own list under “Who receives DataCentral communications for your company” on their Updates page.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489765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23090"/>
            <a:ext cx="4480560" cy="595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404040"/>
                </a:solidFill>
                <a:latin typeface="IBM Plex Sans"/>
              </a:rPr>
              <a:t>Bounces, spam reports and unsubscribes join the Suppressions tab by themselves. A suppressed address never receives mail again, whatever company it belongs to.</a:t>
            </a:r>
          </a:p>
        </p:txBody>
      </p:sp>
      <p:pic>
        <p:nvPicPr>
          <p:cNvPr id="19" name="Picture 18" descr="prefere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25880"/>
            <a:ext cx="6202375" cy="26722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532120" y="1325880"/>
            <a:ext cx="6202375" cy="2672299"/>
          </a:xfrm>
          <a:prstGeom prst="rect">
            <a:avLst/>
          </a:prstGeom>
          <a:noFill/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737373"/>
                </a:solidFill>
                <a:latin typeface="IBM Plex Mono"/>
              </a:rPr>
              <a:t>10</a:t>
            </a:r>
          </a:p>
        </p:txBody>
      </p:sp>
      <p:pic>
        <p:nvPicPr>
          <p:cNvPr id="4" name="Picture 3" descr="wordmark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84048"/>
            <a:ext cx="1463040" cy="193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7C3AED"/>
                </a:solidFill>
                <a:latin typeface="Space Grotesk"/>
              </a:rPr>
              <a:t>BEFORE YOU PRESS SEND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spc="-10">
                <a:solidFill>
                  <a:srgbClr val="171717"/>
                </a:solidFill>
                <a:latin typeface="Space Grotesk"/>
              </a:rPr>
              <a:t>A short checklist for every release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50148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06654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665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7699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The release is published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7699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The customer email links to release notes that already exist.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1828800"/>
            <a:ext cx="550148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15887" y="206654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20665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647" y="2011680"/>
            <a:ext cx="47699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Both languages read 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47" y="2331720"/>
            <a:ext cx="47699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Icelandic text is in place, or the English fallback is acceptable for this mail.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550148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20"/>
            <a:ext cx="47699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A test mail reached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47699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“Send test to me” from the Review step; open it on a phone as well.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3063240"/>
            <a:ext cx="550148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5887" y="330098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5887" y="330098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647" y="3246120"/>
            <a:ext cx="47699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The audience counts make sense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647" y="3566160"/>
            <a:ext cx="47699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“Will receive” matches your expectation; the suppressed count has a reason you understand.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550148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45354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354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80560"/>
            <a:ext cx="47699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The notice is clear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800600"/>
            <a:ext cx="47699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No “disabled”, “sandbox” or unexpected “safe mode” warning on the Review step.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3007" y="4297680"/>
            <a:ext cx="5501487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15887" y="45354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5887" y="45354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Space Grotesk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647" y="4480560"/>
            <a:ext cx="476996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71717"/>
                </a:solidFill>
                <a:latin typeface="Space Grotesk"/>
              </a:rPr>
              <a:t>The timing is right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1647" y="4800600"/>
            <a:ext cx="47699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04040"/>
                </a:solidFill>
                <a:latin typeface="IBM Plex Sans"/>
              </a:rPr>
              <a:t>Schedule for a working morning in Iceland; sending is frozen once it starts.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solidFill>
            <a:srgbClr val="F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577840"/>
            <a:ext cx="36576" cy="731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687568"/>
            <a:ext cx="10957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1717"/>
                </a:solidFill>
                <a:latin typeface="Space Grotesk"/>
              </a:rPr>
              <a:t>Learn more in Pulse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961888"/>
            <a:ext cx="10957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404040"/>
                </a:solidFill>
                <a:latin typeface="IBM Plex Sans"/>
              </a:rPr>
              <a:t>Open the ? menu and start the “Customer communications” tour, or read the “Customer communications” section of the help manual (Help → Admin manual).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93992"/>
            <a:ext cx="3047923" cy="64008"/>
          </a:xfrm>
          <a:prstGeom prst="rect">
            <a:avLst/>
          </a:prstGeom>
          <a:solidFill>
            <a:srgbClr val="F9C8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6793992"/>
            <a:ext cx="3047923" cy="64008"/>
          </a:xfrm>
          <a:prstGeom prst="rect">
            <a:avLst/>
          </a:prstGeom>
          <a:solidFill>
            <a:srgbClr val="F07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6" y="6793992"/>
            <a:ext cx="3047923" cy="64008"/>
          </a:xfrm>
          <a:prstGeom prst="rect">
            <a:avLst/>
          </a:prstGeom>
          <a:solidFill>
            <a:srgbClr val="ED0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69" y="6793992"/>
            <a:ext cx="3047926" cy="64008"/>
          </a:xfrm>
          <a:prstGeom prst="rect">
            <a:avLst/>
          </a:prstGeom>
          <a:solidFill>
            <a:srgbClr val="664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A3A3A3"/>
                </a:solidFill>
                <a:latin typeface="IBM Plex Sans"/>
              </a:rPr>
              <a:t>Pulse · Customer communications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A3A3A3"/>
                </a:solidFill>
                <a:latin typeface="IBM Plex Mono"/>
              </a:rPr>
              <a:t>11</a:t>
            </a:r>
          </a:p>
        </p:txBody>
      </p:sp>
      <p:pic>
        <p:nvPicPr>
          <p:cNvPr id="8" name="Picture 7" descr="wordmark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02920"/>
            <a:ext cx="2194560" cy="290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468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30">
                <a:solidFill>
                  <a:srgbClr val="A78BFA"/>
                </a:solidFill>
                <a:latin typeface="Space Grotesk"/>
              </a:rPr>
              <a:t>PULSE · CUSTOMER COMMUNICATIONS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9601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spc="-10">
                <a:solidFill>
                  <a:srgbClr val="FFFFFF"/>
                </a:solidFill>
                <a:latin typeface="Space Grotesk"/>
              </a:rPr>
              <a:t>Every release, announced to the right people, in their language, with delivery you can see.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3"/>
                </a:solidFill>
                <a:latin typeface="IBM Plex Sans"/>
              </a:rPr>
              <a:t>Questions: the DataCentral team · support@datacentral.ai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