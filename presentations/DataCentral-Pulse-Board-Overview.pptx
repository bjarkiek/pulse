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BJARKI~1\AppData\Local\Temp\claude\c--VS-Code-Pulse\737040a4-7a5b-45ed-a466-167903066274\scratchpad\pptx\assets\logos\Logo-WhiteText-Transpa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85800"/>
            <a:ext cx="2311119" cy="304495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2331720"/>
            <a:ext cx="10058400" cy="2011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4698"/>
              </a:lnSpc>
              <a:buNone/>
            </a:pPr>
            <a:r>
              <a:rPr lang="en-US" sz="4350" b="1" spc="-100" kern="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The system of record for what customers ask, and what DataCentral ships</a:t>
            </a:r>
            <a:endParaRPr lang="en-US" sz="4350" dirty="0"/>
          </a:p>
        </p:txBody>
      </p:sp>
      <p:sp>
        <p:nvSpPr>
          <p:cNvPr id="4" name="Text 1"/>
          <p:cNvSpPr/>
          <p:nvPr/>
        </p:nvSpPr>
        <p:spPr>
          <a:xfrm>
            <a:off x="685800" y="4343400"/>
            <a:ext cx="87782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950"/>
              </a:lnSpc>
              <a:buNone/>
            </a:pPr>
            <a:r>
              <a:rPr lang="en-US" sz="1500" dirty="0">
                <a:solidFill>
                  <a:srgbClr val="A3A3A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Pulse turns scattered feedback into a scored, published roadmap — one governed pipeline from request to release.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685800" y="5916168"/>
            <a:ext cx="5410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DataCentral Pulse</a:t>
            </a:r>
            <a:endParaRPr lang="en-US" sz="1050" dirty="0"/>
          </a:p>
        </p:txBody>
      </p:sp>
      <p:sp>
        <p:nvSpPr>
          <p:cNvPr id="6" name="Text 3"/>
          <p:cNvSpPr/>
          <p:nvPr/>
        </p:nvSpPr>
        <p:spPr>
          <a:xfrm>
            <a:off x="6095848" y="5916168"/>
            <a:ext cx="5410048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2026</a:t>
            </a:r>
            <a:endParaRPr lang="en-US" sz="1050" dirty="0"/>
          </a:p>
        </p:txBody>
      </p:sp>
      <p:sp>
        <p:nvSpPr>
          <p:cNvPr id="7" name="Shape 4"/>
          <p:cNvSpPr/>
          <p:nvPr/>
        </p:nvSpPr>
        <p:spPr>
          <a:xfrm>
            <a:off x="0" y="6800850"/>
            <a:ext cx="3047924" cy="57150"/>
          </a:xfrm>
          <a:prstGeom prst="rect">
            <a:avLst/>
          </a:prstGeom>
          <a:solidFill>
            <a:srgbClr val="F9C815"/>
          </a:solidFill>
          <a:ln/>
        </p:spPr>
      </p:sp>
      <p:sp>
        <p:nvSpPr>
          <p:cNvPr id="8" name="Shape 5"/>
          <p:cNvSpPr/>
          <p:nvPr/>
        </p:nvSpPr>
        <p:spPr>
          <a:xfrm>
            <a:off x="3047924" y="6800850"/>
            <a:ext cx="3047924" cy="57150"/>
          </a:xfrm>
          <a:prstGeom prst="rect">
            <a:avLst/>
          </a:prstGeom>
          <a:solidFill>
            <a:srgbClr val="F07124"/>
          </a:solidFill>
          <a:ln/>
        </p:spPr>
      </p:sp>
      <p:sp>
        <p:nvSpPr>
          <p:cNvPr id="9" name="Shape 6"/>
          <p:cNvSpPr/>
          <p:nvPr/>
        </p:nvSpPr>
        <p:spPr>
          <a:xfrm>
            <a:off x="6095848" y="6800850"/>
            <a:ext cx="3047924" cy="57150"/>
          </a:xfrm>
          <a:prstGeom prst="rect">
            <a:avLst/>
          </a:prstGeom>
          <a:solidFill>
            <a:srgbClr val="ED0E78"/>
          </a:solidFill>
          <a:ln/>
        </p:spPr>
      </p:sp>
      <p:sp>
        <p:nvSpPr>
          <p:cNvPr id="10" name="Shape 7"/>
          <p:cNvSpPr/>
          <p:nvPr/>
        </p:nvSpPr>
        <p:spPr>
          <a:xfrm>
            <a:off x="9143771" y="6800850"/>
            <a:ext cx="3047924" cy="57150"/>
          </a:xfrm>
          <a:prstGeom prst="rect">
            <a:avLst/>
          </a:prstGeom>
          <a:solidFill>
            <a:srgbClr val="6640A2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820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C3A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PROBLEM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1069848"/>
            <a:ext cx="10820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Feedback has no system of record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05256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Scattered by default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905256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Requests arrive by email, calls, and Slack. DataCentral's own product priorities live in someone's head, not a shared record.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77842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7298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shared status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4597298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Customers can't see what's already been asked for, or where it stands, without asking again.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69885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9341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Consolidation is manual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8289341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request from three customers looks like three separate asks until someone happens to notice.</a:t>
            </a:r>
            <a:endParaRPr lang="en-US" sz="1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820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C3A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PRODUCT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1069848"/>
            <a:ext cx="10820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pipeline: request to release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3886200"/>
            <a:ext cx="2396414" cy="1691640"/>
          </a:xfrm>
          <a:prstGeom prst="roundRect">
            <a:avLst>
              <a:gd name="adj" fmla="val 4324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13816" y="4069080"/>
            <a:ext cx="214038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4C1D9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Request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795528" y="4544568"/>
            <a:ext cx="2176958" cy="886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customer describes a problem — private to their organization</a:t>
            </a:r>
            <a:endParaRPr lang="en-US" sz="825" dirty="0"/>
          </a:p>
        </p:txBody>
      </p:sp>
      <p:sp>
        <p:nvSpPr>
          <p:cNvPr id="7" name="Shape 5"/>
          <p:cNvSpPr/>
          <p:nvPr/>
        </p:nvSpPr>
        <p:spPr>
          <a:xfrm>
            <a:off x="3082214" y="4732020"/>
            <a:ext cx="411480" cy="0"/>
          </a:xfrm>
          <a:prstGeom prst="line">
            <a:avLst/>
          </a:prstGeom>
          <a:noFill/>
          <a:ln w="22225">
            <a:solidFill>
              <a:srgbClr val="C4B5FD"/>
            </a:solidFill>
            <a:prstDash val="solid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3493694" y="3886200"/>
            <a:ext cx="2396414" cy="1691640"/>
          </a:xfrm>
          <a:prstGeom prst="roundRect">
            <a:avLst>
              <a:gd name="adj" fmla="val 4324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3621710" y="4069080"/>
            <a:ext cx="214038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4C1D9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Triage &amp; consolidate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3603422" y="4544568"/>
            <a:ext cx="2176958" cy="886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DataCentral links it to a canonical idea, or opens a new one</a:t>
            </a:r>
            <a:endParaRPr lang="en-US" sz="825" dirty="0"/>
          </a:p>
        </p:txBody>
      </p:sp>
      <p:sp>
        <p:nvSpPr>
          <p:cNvPr id="11" name="Shape 9"/>
          <p:cNvSpPr/>
          <p:nvPr/>
        </p:nvSpPr>
        <p:spPr>
          <a:xfrm>
            <a:off x="5890108" y="4732020"/>
            <a:ext cx="411480" cy="0"/>
          </a:xfrm>
          <a:prstGeom prst="line">
            <a:avLst/>
          </a:prstGeom>
          <a:noFill/>
          <a:ln w="22225">
            <a:solidFill>
              <a:srgbClr val="C4B5FD"/>
            </a:solidFill>
            <a:prstDash val="solid"/>
            <a:tailEnd type="triangle"/>
          </a:ln>
        </p:spPr>
      </p:sp>
      <p:sp>
        <p:nvSpPr>
          <p:cNvPr id="12" name="Shape 10"/>
          <p:cNvSpPr/>
          <p:nvPr/>
        </p:nvSpPr>
        <p:spPr>
          <a:xfrm>
            <a:off x="6301588" y="3886200"/>
            <a:ext cx="2396414" cy="1691640"/>
          </a:xfrm>
          <a:prstGeom prst="roundRect">
            <a:avLst>
              <a:gd name="adj" fmla="val 4324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6429604" y="4069080"/>
            <a:ext cx="214038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4C1D9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Score &amp; publish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411316" y="4544568"/>
            <a:ext cx="2176958" cy="886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Prioritized internally, then published in customer-safe language</a:t>
            </a:r>
            <a:endParaRPr lang="en-US" sz="825" dirty="0"/>
          </a:p>
        </p:txBody>
      </p:sp>
      <p:sp>
        <p:nvSpPr>
          <p:cNvPr id="15" name="Shape 13"/>
          <p:cNvSpPr/>
          <p:nvPr/>
        </p:nvSpPr>
        <p:spPr>
          <a:xfrm>
            <a:off x="8698001" y="4732020"/>
            <a:ext cx="411480" cy="0"/>
          </a:xfrm>
          <a:prstGeom prst="line">
            <a:avLst/>
          </a:prstGeom>
          <a:noFill/>
          <a:ln w="22225">
            <a:solidFill>
              <a:srgbClr val="C4B5FD"/>
            </a:solidFill>
            <a:prstDash val="solid"/>
            <a:tailEnd type="triangle"/>
          </a:ln>
        </p:spPr>
      </p:sp>
      <p:sp>
        <p:nvSpPr>
          <p:cNvPr id="16" name="Shape 14"/>
          <p:cNvSpPr/>
          <p:nvPr/>
        </p:nvSpPr>
        <p:spPr>
          <a:xfrm>
            <a:off x="9109481" y="3886200"/>
            <a:ext cx="2396414" cy="1691640"/>
          </a:xfrm>
          <a:prstGeom prst="roundRect">
            <a:avLst>
              <a:gd name="adj" fmla="val 4324"/>
            </a:avLst>
          </a:prstGeom>
          <a:solidFill>
            <a:srgbClr val="F5F3FF"/>
          </a:solidFill>
          <a:ln w="12700">
            <a:solidFill>
              <a:srgbClr val="EDE9FE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237497" y="4069080"/>
            <a:ext cx="2140382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380"/>
              </a:lnSpc>
              <a:buNone/>
            </a:pPr>
            <a:r>
              <a:rPr lang="en-US" sz="1200" b="1" dirty="0">
                <a:solidFill>
                  <a:srgbClr val="4C1D9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Release &amp; notify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9219209" y="4544568"/>
            <a:ext cx="2176958" cy="88696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lnSpc>
                <a:spcPts val="1073"/>
              </a:lnSpc>
              <a:buNone/>
            </a:pPr>
            <a:r>
              <a:rPr lang="en-US" sz="825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Shipped, bundled into a release, and customers are told</a:t>
            </a:r>
            <a:endParaRPr lang="en-US" sz="825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820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C3A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BY DESIGN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1069848"/>
            <a:ext cx="10820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Private requests, public ideas — never confused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3429000"/>
            <a:ext cx="5272888" cy="274320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8408" y="3666744"/>
            <a:ext cx="468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373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REQUEST · PRIVATE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78408" y="3977640"/>
            <a:ext cx="46876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customer's ask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78408" y="4599432"/>
            <a:ext cx="468767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628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Problem, impact, attachments</a:t>
            </a:r>
            <a:endParaRPr lang="en-US" sz="1050" dirty="0"/>
          </a:p>
          <a:p>
            <a:pPr marL="342900" indent="-342900">
              <a:lnSpc>
                <a:spcPts val="1628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Visible only inside their organization</a:t>
            </a:r>
            <a:endParaRPr lang="en-US" sz="1050" dirty="0"/>
          </a:p>
          <a:p>
            <a:pPr marL="342900" indent="-342900">
              <a:lnSpc>
                <a:spcPts val="1628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Full status history and comments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33008" y="3429000"/>
            <a:ext cx="5272888" cy="2743200"/>
          </a:xfrm>
          <a:prstGeom prst="roundRect">
            <a:avLst>
              <a:gd name="adj" fmla="val 3000"/>
            </a:avLst>
          </a:prstGeom>
          <a:solidFill>
            <a:srgbClr val="FAF8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25616" y="3666744"/>
            <a:ext cx="468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D28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IDEA · CUSTOMER-SAFE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525616" y="3977640"/>
            <a:ext cx="46876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1D9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DataCentral's canonical record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25616" y="4599432"/>
            <a:ext cx="468767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628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Consolidates every request behind it</a:t>
            </a:r>
            <a:endParaRPr lang="en-US" sz="1050" dirty="0"/>
          </a:p>
          <a:p>
            <a:pPr marL="342900" indent="-342900">
              <a:lnSpc>
                <a:spcPts val="1628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Scored, staged, and explicitly published</a:t>
            </a:r>
            <a:endParaRPr lang="en-US" sz="1050" dirty="0"/>
          </a:p>
          <a:p>
            <a:pPr marL="342900" indent="-342900">
              <a:lnSpc>
                <a:spcPts val="1628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Shown on the public roadmap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820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C3A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WHO IT'S FOR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1069848"/>
            <a:ext cx="10820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app, two sides of the same conversation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05256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DataCentral customers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905256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Submit requests, track status, and see what's shipping — Origo, Landsnet, RARIK, and partners like Crayon today.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77842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7298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Product &amp; support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4597298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Triage, consolidate, score, and publish — with a full audit trail behind every decision.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69885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9341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One identity, many roles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8289341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person can hold a different role at each customer company they belong to, enforced on every request.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820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C3A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DIFFERENTIATOR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1069848"/>
            <a:ext cx="10820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An assistant that can act, not just answer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05256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In-app assistant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905256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Claude-powered panel that reads and acts on your own data — nothing more than you're permitted to see.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77842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7298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Same assistant in Slack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4597298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DM it or @-mention it. No separate bot to learn, no context switch.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69885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9341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Guardrails on the risky stuff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8289341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Publishing or merging still requires an explicit confirmation, every time.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820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C3A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DIFFERENTIATOR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1069848"/>
            <a:ext cx="10820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Pulse speaks MCP, so any AI client can too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05256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A standard, not a workaround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905256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Pulse runs its own OAuth-secured MCP server — the same open standard Claude uses to connect to tools.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77842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7298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Signs in as a real person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4597298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Every MCP connection authorizes as an actual Pulse user, never a shared service account.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69885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9341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action is logged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8289341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The same audit trail as the web app, whether the request came from a browser or an AI agent.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820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C3A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PROOF POINT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1783080"/>
            <a:ext cx="10820095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0" b="1" spc="-200" kern="0" dirty="0">
                <a:solidFill>
                  <a:srgbClr val="6D28D9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15 days</a:t>
            </a:r>
            <a:endParaRPr lang="en-US" sz="10500" dirty="0"/>
          </a:p>
        </p:txBody>
      </p:sp>
      <p:sp>
        <p:nvSpPr>
          <p:cNvPr id="4" name="Text 2"/>
          <p:cNvSpPr/>
          <p:nvPr/>
        </p:nvSpPr>
        <p:spPr>
          <a:xfrm>
            <a:off x="685800" y="4160520"/>
            <a:ext cx="8412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2126"/>
              </a:lnSpc>
              <a:buNone/>
            </a:pPr>
            <a:r>
              <a:rPr lang="en-US" sz="1575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from an approved product spec to a working, security-tested application — full auth, AI assistant, Slack bot, and MCP server included.</a:t>
            </a:r>
            <a:endParaRPr lang="en-US" sz="1575" dirty="0"/>
          </a:p>
        </p:txBody>
      </p:sp>
      <p:sp>
        <p:nvSpPr>
          <p:cNvPr id="5" name="Text 3"/>
          <p:cNvSpPr/>
          <p:nvPr/>
        </p:nvSpPr>
        <p:spPr>
          <a:xfrm>
            <a:off x="685800" y="5916168"/>
            <a:ext cx="10820095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38" dirty="0">
                <a:solidFill>
                  <a:srgbClr val="A3A3A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Source: project history, July 2026</a:t>
            </a:r>
            <a:endParaRPr lang="en-US" sz="938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820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C3A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TRUST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1069848"/>
            <a:ext cx="10820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Held to the same bar DataCentral sells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05256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No standing credentials</a:t>
            </a:r>
            <a:endParaRPr lang="en-US" sz="1425" dirty="0"/>
          </a:p>
        </p:txBody>
      </p:sp>
      <p:sp>
        <p:nvSpPr>
          <p:cNvPr id="6" name="Text 4"/>
          <p:cNvSpPr/>
          <p:nvPr/>
        </p:nvSpPr>
        <p:spPr>
          <a:xfrm>
            <a:off x="905256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Azure SQL and Blob Storage are reached only through managed identity — no passwords or keys to leak.</a:t>
            </a:r>
            <a:endParaRPr lang="en-US" sz="1050" dirty="0"/>
          </a:p>
        </p:txBody>
      </p:sp>
      <p:sp>
        <p:nvSpPr>
          <p:cNvPr id="7" name="Shape 5"/>
          <p:cNvSpPr/>
          <p:nvPr/>
        </p:nvSpPr>
        <p:spPr>
          <a:xfrm>
            <a:off x="4377842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97298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Every action is attributable</a:t>
            </a:r>
            <a:endParaRPr lang="en-US" sz="1425" dirty="0"/>
          </a:p>
        </p:txBody>
      </p:sp>
      <p:sp>
        <p:nvSpPr>
          <p:cNvPr id="9" name="Text 7"/>
          <p:cNvSpPr/>
          <p:nvPr/>
        </p:nvSpPr>
        <p:spPr>
          <a:xfrm>
            <a:off x="4597298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Status changes, publishes, and admin actions write to an audit trail, not just a log line.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8069885" y="4297680"/>
            <a:ext cx="3436010" cy="1874520"/>
          </a:xfrm>
          <a:prstGeom prst="roundRect">
            <a:avLst>
              <a:gd name="adj" fmla="val 439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89341" y="4498848"/>
            <a:ext cx="2997098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639"/>
              </a:lnSpc>
              <a:buNone/>
            </a:pPr>
            <a:r>
              <a:rPr lang="en-US" sz="1425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Documented, not assumed</a:t>
            </a:r>
            <a:endParaRPr lang="en-US" sz="1425" dirty="0"/>
          </a:p>
        </p:txBody>
      </p:sp>
      <p:sp>
        <p:nvSpPr>
          <p:cNvPr id="12" name="Text 10"/>
          <p:cNvSpPr/>
          <p:nvPr/>
        </p:nvSpPr>
        <p:spPr>
          <a:xfrm>
            <a:off x="8289341" y="5074920"/>
            <a:ext cx="2997098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491"/>
              </a:lnSpc>
              <a:buNone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 published OpenAPI contract and a typed request/response surface — not a black box.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4C1D95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2788920"/>
            <a:ext cx="10820095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4B5FD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STATUS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85800" y="3182112"/>
            <a:ext cx="9875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795"/>
              </a:lnSpc>
              <a:buNone/>
            </a:pPr>
            <a:r>
              <a:rPr lang="en-US" sz="3450" b="1" spc="-100" kern="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Where Pulse stands today</a:t>
            </a:r>
            <a:endParaRPr lang="en-US" sz="3450" dirty="0"/>
          </a:p>
        </p:txBody>
      </p:sp>
      <p:pic>
        <p:nvPicPr>
          <p:cNvPr id="4" name="Image 0" descr="C:\Users\BJARKI~1\AppData\Local\Temp\claude\c--VS-Code-Pulse\737040a4-7a5b-45ed-a466-167903066274\scratchpad\pptx\assets\logos\Logo-Icon-White-Transparent.png">    </p:cNvPr>
          <p:cNvPicPr>
            <a:picLocks noChangeAspect="1"/>
          </p:cNvPicPr>
          <p:nvPr/>
        </p:nvPicPr>
        <p:blipFill>
          <a:blip r:embed="rId1">
            <a:alphaModFix amt="85000"/>
          </a:blip>
          <a:stretch>
            <a:fillRect/>
          </a:stretch>
        </p:blipFill>
        <p:spPr>
          <a:xfrm>
            <a:off x="11162995" y="5829300"/>
            <a:ext cx="342900" cy="3429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685800"/>
            <a:ext cx="10820095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spc="200" kern="0" dirty="0">
                <a:solidFill>
                  <a:srgbClr val="7C3AED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STATUS</a:t>
            </a:r>
            <a:endParaRPr lang="en-US" sz="1050" dirty="0"/>
          </a:p>
        </p:txBody>
      </p:sp>
      <p:sp>
        <p:nvSpPr>
          <p:cNvPr id="3" name="Text 1"/>
          <p:cNvSpPr/>
          <p:nvPr/>
        </p:nvSpPr>
        <p:spPr>
          <a:xfrm>
            <a:off x="685800" y="1069848"/>
            <a:ext cx="10820095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3000" b="1" spc="-50" kern="0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Built fast — launch gates are known, not hidden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85800" y="3429000"/>
            <a:ext cx="5272888" cy="2743200"/>
          </a:xfrm>
          <a:prstGeom prst="roundRect">
            <a:avLst>
              <a:gd name="adj" fmla="val 3000"/>
            </a:avLst>
          </a:prstGeom>
          <a:solidFill>
            <a:srgbClr val="FAFAFA"/>
          </a:solidFill>
          <a:ln w="12700">
            <a:solidFill>
              <a:srgbClr val="E5E5E5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978408" y="3666744"/>
            <a:ext cx="468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73737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BUILT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978408" y="3977640"/>
            <a:ext cx="46876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71717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Working today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78408" y="4599432"/>
            <a:ext cx="468767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628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Full request-to-release workflow</a:t>
            </a:r>
            <a:endParaRPr lang="en-US" sz="1050" dirty="0"/>
          </a:p>
          <a:p>
            <a:pPr marL="342900" indent="-342900">
              <a:lnSpc>
                <a:spcPts val="1628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AI assistant, Slack bot, and MCP server</a:t>
            </a:r>
            <a:endParaRPr lang="en-US" sz="1050" dirty="0"/>
          </a:p>
          <a:p>
            <a:pPr marL="342900" indent="-342900">
              <a:lnSpc>
                <a:spcPts val="1628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Bilingual product UI (English / Icelandic)</a:t>
            </a:r>
            <a:endParaRPr lang="en-US" sz="1050" dirty="0"/>
          </a:p>
          <a:p>
            <a:pPr marL="342900" indent="-342900">
              <a:lnSpc>
                <a:spcPts val="1628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Live Azure environment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6233008" y="3429000"/>
            <a:ext cx="5272888" cy="2743200"/>
          </a:xfrm>
          <a:prstGeom prst="roundRect">
            <a:avLst>
              <a:gd name="adj" fmla="val 3000"/>
            </a:avLst>
          </a:prstGeom>
          <a:solidFill>
            <a:srgbClr val="FAF8FF"/>
          </a:solidFill>
          <a:ln w="12700">
            <a:solidFill>
              <a:srgbClr val="DDD6FE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6525616" y="3666744"/>
            <a:ext cx="468767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spc="100" kern="0" dirty="0">
                <a:solidFill>
                  <a:srgbClr val="6D28D9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BEFORE GENERAL LAUNCH</a:t>
            </a:r>
            <a:endParaRPr lang="en-US" sz="900" dirty="0"/>
          </a:p>
        </p:txBody>
      </p:sp>
      <p:sp>
        <p:nvSpPr>
          <p:cNvPr id="10" name="Text 8"/>
          <p:cNvSpPr/>
          <p:nvPr/>
        </p:nvSpPr>
        <p:spPr>
          <a:xfrm>
            <a:off x="6525616" y="3977640"/>
            <a:ext cx="4687672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4C1D95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Tracked, not started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525616" y="4599432"/>
            <a:ext cx="468767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ts val="1628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Identity tenant and verified email domain</a:t>
            </a:r>
            <a:endParaRPr lang="en-US" sz="1050" dirty="0"/>
          </a:p>
          <a:p>
            <a:pPr marL="342900" indent="-342900">
              <a:lnSpc>
                <a:spcPts val="1628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Security scanning and private networking</a:t>
            </a:r>
            <a:endParaRPr lang="en-US" sz="1050" dirty="0"/>
          </a:p>
          <a:p>
            <a:pPr marL="342900" indent="-342900">
              <a:lnSpc>
                <a:spcPts val="1628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Backup/restore and load testing</a:t>
            </a:r>
            <a:endParaRPr lang="en-US" sz="1050" dirty="0"/>
          </a:p>
          <a:p>
            <a:pPr marL="342900" indent="-342900">
              <a:lnSpc>
                <a:spcPts val="1628"/>
              </a:lnSpc>
              <a:spcAft>
                <a:spcPts val="500"/>
              </a:spcAft>
              <a:buSzPct val="100000"/>
              <a:buChar char="•"/>
            </a:pPr>
            <a:r>
              <a:rPr lang="en-US" sz="1050" dirty="0">
                <a:solidFill>
                  <a:srgbClr val="525252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Accessibility and Icelandic copy review</a:t>
            </a:r>
            <a:endParaRPr lang="en-US" sz="10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C:\Users\BJARKI~1\AppData\Local\Temp\claude\c--VS-Code-Pulse\737040a4-7a5b-45ed-a466-167903066274\scratchpad\pptx\assets\logos\Logo-Icon-Original-Transparen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5800" y="685800"/>
            <a:ext cx="457200" cy="457200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685800" y="2286000"/>
            <a:ext cx="9875520" cy="17373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3696"/>
              </a:lnSpc>
              <a:buNone/>
            </a:pPr>
            <a:r>
              <a:rPr lang="en-US" sz="3300" b="1" spc="-100" kern="0" dirty="0">
                <a:solidFill>
                  <a:srgbClr val="FFFFFF"/>
                </a:solidFill>
                <a:latin typeface="Space Grotesk" pitchFamily="34" charset="0"/>
                <a:ea typeface="Space Grotesk" pitchFamily="34" charset="-122"/>
                <a:cs typeface="Space Grotesk" pitchFamily="34" charset="-120"/>
              </a:rPr>
              <a:t>Feedback has a home. Let's talk about what's next.</a:t>
            </a:r>
            <a:endParaRPr lang="en-US" sz="3300" dirty="0"/>
          </a:p>
        </p:txBody>
      </p:sp>
      <p:sp>
        <p:nvSpPr>
          <p:cNvPr id="4" name="Text 1"/>
          <p:cNvSpPr/>
          <p:nvPr/>
        </p:nvSpPr>
        <p:spPr>
          <a:xfrm>
            <a:off x="685800" y="3977640"/>
            <a:ext cx="91440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ts val="1823"/>
              </a:lnSpc>
              <a:buNone/>
            </a:pPr>
            <a:r>
              <a:rPr lang="en-US" sz="1350" dirty="0">
                <a:solidFill>
                  <a:srgbClr val="A3A3A3"/>
                </a:solidFill>
                <a:latin typeface="IBM Plex Sans" pitchFamily="34" charset="0"/>
                <a:ea typeface="IBM Plex Sans" pitchFamily="34" charset="-122"/>
                <a:cs typeface="IBM Plex Sans" pitchFamily="34" charset="-120"/>
              </a:rPr>
              <a:t>Questions, a live walkthrough, or a look at the launch checklist — happy to go deeper.</a:t>
            </a:r>
            <a:endParaRPr lang="en-US" sz="1350" dirty="0"/>
          </a:p>
        </p:txBody>
      </p:sp>
      <p:sp>
        <p:nvSpPr>
          <p:cNvPr id="5" name="Text 2"/>
          <p:cNvSpPr/>
          <p:nvPr/>
        </p:nvSpPr>
        <p:spPr>
          <a:xfrm>
            <a:off x="685800" y="5916168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737373"/>
                </a:solidFill>
                <a:latin typeface="IBM Plex Mono" pitchFamily="34" charset="0"/>
                <a:ea typeface="IBM Plex Mono" pitchFamily="34" charset="-122"/>
                <a:cs typeface="IBM Plex Mono" pitchFamily="34" charset="-120"/>
              </a:rPr>
              <a:t>DataCentral Pulse</a:t>
            </a:r>
            <a:endParaRPr lang="en-US" sz="1050" dirty="0"/>
          </a:p>
        </p:txBody>
      </p:sp>
      <p:pic>
        <p:nvPicPr>
          <p:cNvPr id="6" name="Image 1" descr="C:\Users\BJARKI~1\AppData\Local\Temp\claude\c--VS-Code-Pulse\737040a4-7a5b-45ed-a466-167903066274\scratchpad\pptx\assets\logos\Logo-WhiteText-Transparent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16567" y="5939485"/>
            <a:ext cx="1589328" cy="209398"/>
          </a:xfrm>
          <a:prstGeom prst="rect">
            <a:avLst/>
          </a:prstGeom>
        </p:spPr>
      </p:pic>
      <p:sp>
        <p:nvSpPr>
          <p:cNvPr id="7" name="Shape 3"/>
          <p:cNvSpPr/>
          <p:nvPr/>
        </p:nvSpPr>
        <p:spPr>
          <a:xfrm>
            <a:off x="0" y="6800850"/>
            <a:ext cx="3047924" cy="57150"/>
          </a:xfrm>
          <a:prstGeom prst="rect">
            <a:avLst/>
          </a:prstGeom>
          <a:solidFill>
            <a:srgbClr val="F9C815"/>
          </a:solidFill>
          <a:ln/>
        </p:spPr>
      </p:sp>
      <p:sp>
        <p:nvSpPr>
          <p:cNvPr id="8" name="Shape 4"/>
          <p:cNvSpPr/>
          <p:nvPr/>
        </p:nvSpPr>
        <p:spPr>
          <a:xfrm>
            <a:off x="3047924" y="6800850"/>
            <a:ext cx="3047924" cy="57150"/>
          </a:xfrm>
          <a:prstGeom prst="rect">
            <a:avLst/>
          </a:prstGeom>
          <a:solidFill>
            <a:srgbClr val="F07124"/>
          </a:solidFill>
          <a:ln/>
        </p:spPr>
      </p:sp>
      <p:sp>
        <p:nvSpPr>
          <p:cNvPr id="9" name="Shape 5"/>
          <p:cNvSpPr/>
          <p:nvPr/>
        </p:nvSpPr>
        <p:spPr>
          <a:xfrm>
            <a:off x="6095848" y="6800850"/>
            <a:ext cx="3047924" cy="57150"/>
          </a:xfrm>
          <a:prstGeom prst="rect">
            <a:avLst/>
          </a:prstGeom>
          <a:solidFill>
            <a:srgbClr val="ED0E78"/>
          </a:solidFill>
          <a:ln/>
        </p:spPr>
      </p:sp>
      <p:sp>
        <p:nvSpPr>
          <p:cNvPr id="10" name="Shape 6"/>
          <p:cNvSpPr/>
          <p:nvPr/>
        </p:nvSpPr>
        <p:spPr>
          <a:xfrm>
            <a:off x="9143771" y="6800850"/>
            <a:ext cx="3047924" cy="57150"/>
          </a:xfrm>
          <a:prstGeom prst="rect">
            <a:avLst/>
          </a:prstGeom>
          <a:solidFill>
            <a:srgbClr val="6640A2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DataCentral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DataCentral Pulse — Board Overview</dc:title>
  <dc:subject>PptxGenJS Presentation</dc:subject>
  <dc:creator>DataCentral</dc:creator>
  <cp:lastModifiedBy>DataCentral</cp:lastModifiedBy>
  <cp:revision>1</cp:revision>
  <dcterms:created xsi:type="dcterms:W3CDTF">2026-07-31T11:55:15Z</dcterms:created>
  <dcterms:modified xsi:type="dcterms:W3CDTF">2026-07-31T11:55:15Z</dcterms:modified>
</cp:coreProperties>
</file>