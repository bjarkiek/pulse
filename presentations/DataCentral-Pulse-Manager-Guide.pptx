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DataCentral Pulse · Manager guide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3A3A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3A3A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ataCentr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2377440" cy="31325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21488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4B5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MANAGER GUIDE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2560320"/>
            <a:ext cx="10424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Run Pulse: triage, publish, release and communicate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66344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3A3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working guide for DataCentral product managers and system administrators, with the screens you will use every week.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DataCentral Pulse · Internal</a:t>
            </a:r>
            <a:endParaRPr lang="en-US" sz="1200" dirty="0"/>
          </a:p>
        </p:txBody>
      </p:sp>
      <p:sp>
        <p:nvSpPr>
          <p:cNvPr id="7" name="Brand stripe 1"/>
          <p:cNvSpPr/>
          <p:nvPr/>
        </p:nvSpPr>
        <p:spPr>
          <a:xfrm>
            <a:off x="0" y="6766560"/>
            <a:ext cx="3047924" cy="91440"/>
          </a:xfrm>
          <a:prstGeom prst="rect">
            <a:avLst/>
          </a:prstGeom>
          <a:solidFill>
            <a:srgbClr val="F9C815"/>
          </a:solidFill>
          <a:ln w="12700">
            <a:solidFill>
              <a:srgbClr val="F9C815"/>
            </a:solidFill>
            <a:prstDash val="solid"/>
          </a:ln>
        </p:spPr>
      </p:sp>
      <p:sp>
        <p:nvSpPr>
          <p:cNvPr id="8" name="Brand stripe 2"/>
          <p:cNvSpPr/>
          <p:nvPr/>
        </p:nvSpPr>
        <p:spPr>
          <a:xfrm>
            <a:off x="3047924" y="6766560"/>
            <a:ext cx="3047924" cy="91440"/>
          </a:xfrm>
          <a:prstGeom prst="rect">
            <a:avLst/>
          </a:prstGeom>
          <a:solidFill>
            <a:srgbClr val="F07124"/>
          </a:solidFill>
          <a:ln w="12700">
            <a:solidFill>
              <a:srgbClr val="F07124"/>
            </a:solidFill>
            <a:prstDash val="solid"/>
          </a:ln>
        </p:spPr>
      </p:sp>
      <p:sp>
        <p:nvSpPr>
          <p:cNvPr id="9" name="Brand stripe 3"/>
          <p:cNvSpPr/>
          <p:nvPr/>
        </p:nvSpPr>
        <p:spPr>
          <a:xfrm>
            <a:off x="6095848" y="6766560"/>
            <a:ext cx="3047924" cy="91440"/>
          </a:xfrm>
          <a:prstGeom prst="rect">
            <a:avLst/>
          </a:prstGeom>
          <a:solidFill>
            <a:srgbClr val="ED0E78"/>
          </a:solidFill>
          <a:ln w="12700">
            <a:solidFill>
              <a:srgbClr val="ED0E78"/>
            </a:solidFill>
            <a:prstDash val="solid"/>
          </a:ln>
        </p:spPr>
      </p:sp>
      <p:sp>
        <p:nvSpPr>
          <p:cNvPr id="10" name="Brand stripe 4"/>
          <p:cNvSpPr/>
          <p:nvPr/>
        </p:nvSpPr>
        <p:spPr>
          <a:xfrm>
            <a:off x="9143771" y="6766560"/>
            <a:ext cx="3047924" cy="91440"/>
          </a:xfrm>
          <a:prstGeom prst="rect">
            <a:avLst/>
          </a:prstGeom>
          <a:solidFill>
            <a:srgbClr val="6640A2"/>
          </a:solidFill>
          <a:ln w="12700">
            <a:solidFill>
              <a:srgbClr val="6640A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Your weekly rhythm in Pulse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640080" y="2103120"/>
            <a:ext cx="2419274" cy="3108960"/>
          </a:xfrm>
          <a:prstGeom prst="roundRect">
            <a:avLst>
              <a:gd name="adj" fmla="val 3024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377440"/>
            <a:ext cx="457200" cy="4572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71800"/>
            <a:ext cx="18706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Triage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703320"/>
            <a:ext cx="187063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 the inbox. Decide the next step for every new request.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059354" y="34290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3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Card"/>
          <p:cNvSpPr/>
          <p:nvPr/>
        </p:nvSpPr>
        <p:spPr>
          <a:xfrm>
            <a:off x="3470834" y="2103120"/>
            <a:ext cx="2419274" cy="3108960"/>
          </a:xfrm>
          <a:prstGeom prst="roundRect">
            <a:avLst>
              <a:gd name="adj" fmla="val 3024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45154" y="2377440"/>
            <a:ext cx="457200" cy="4572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45154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745154" y="2971800"/>
            <a:ext cx="18706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Shape ideas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745154" y="3703320"/>
            <a:ext cx="187063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Consolidate requests into canonical ideas and score them.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890108" y="34290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3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Card"/>
          <p:cNvSpPr/>
          <p:nvPr/>
        </p:nvSpPr>
        <p:spPr>
          <a:xfrm>
            <a:off x="6301588" y="2103120"/>
            <a:ext cx="2419274" cy="3108960"/>
          </a:xfrm>
          <a:prstGeom prst="roundRect">
            <a:avLst>
              <a:gd name="adj" fmla="val 3024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75908" y="2377440"/>
            <a:ext cx="457200" cy="4572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75908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575908" y="2971800"/>
            <a:ext cx="18706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Publish and release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575908" y="3703320"/>
            <a:ext cx="187063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Publish in customer-safe language and bundle shipped ideas into releases.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720861" y="34290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3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Card"/>
          <p:cNvSpPr/>
          <p:nvPr/>
        </p:nvSpPr>
        <p:spPr>
          <a:xfrm>
            <a:off x="9132341" y="2103120"/>
            <a:ext cx="2419274" cy="3108960"/>
          </a:xfrm>
          <a:prstGeom prst="roundRect">
            <a:avLst>
              <a:gd name="adj" fmla="val 3024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406661" y="2377440"/>
            <a:ext cx="457200" cy="4572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406661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406661" y="2971800"/>
            <a:ext cx="18706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Communicate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406661" y="3703320"/>
            <a:ext cx="187063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Email affected customers, then read the analytics.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3A3A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ACCESS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each internal role can do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640080" y="1965960"/>
            <a:ext cx="3454298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Internal contributor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71800"/>
            <a:ext cx="290565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requests and ideas, comment internally and prepare triage notes.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368698" y="1965960"/>
            <a:ext cx="3454298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43018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 manager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643018" y="2971800"/>
            <a:ext cx="290565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Triage, consolidate, score, publish ideas, manage releases and send communications.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8097317" y="1965960"/>
            <a:ext cx="3454298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71637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System admin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371637" y="2971800"/>
            <a:ext cx="290565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Everything above, plus users, companies, authentication policy, settings and the audit log.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3A3A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TOUR: TEAM WORKSPACE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team workspace</a:t>
            </a:r>
            <a:endParaRPr lang="en-US" sz="3200" dirty="0"/>
          </a:p>
        </p:txBody>
      </p:sp>
      <p:sp>
        <p:nvSpPr>
          <p:cNvPr id="4" name="Screenshot frame"/>
          <p:cNvSpPr/>
          <p:nvPr/>
        </p:nvSpPr>
        <p:spPr>
          <a:xfrm>
            <a:off x="603504" y="1792224"/>
            <a:ext cx="7296912" cy="4588002"/>
          </a:xfrm>
          <a:prstGeom prst="roundRect">
            <a:avLst>
              <a:gd name="adj" fmla="val 1196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pic>
        <p:nvPicPr>
          <p:cNvPr id="5" name="Image 0" descr="Internal views, hidden from customers — Pulse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7223760" cy="45148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75320" y="1828800"/>
            <a:ext cx="3276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1 OF 6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2194560"/>
            <a:ext cx="3276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Internal views, hidden from customers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75320" y="3063240"/>
            <a:ext cx="327629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DataCentral team section holds triage, product ideas, releases, communications and analytics. Customers never see it.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3A3A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TOUR: TEAM WORKSPACE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Triage inbox</a:t>
            </a:r>
            <a:endParaRPr lang="en-US" sz="3200" dirty="0"/>
          </a:p>
        </p:txBody>
      </p:sp>
      <p:sp>
        <p:nvSpPr>
          <p:cNvPr id="4" name="Screenshot frame"/>
          <p:cNvSpPr/>
          <p:nvPr/>
        </p:nvSpPr>
        <p:spPr>
          <a:xfrm>
            <a:off x="603504" y="1792224"/>
            <a:ext cx="7296912" cy="4588002"/>
          </a:xfrm>
          <a:prstGeom prst="roundRect">
            <a:avLst>
              <a:gd name="adj" fmla="val 1196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pic>
        <p:nvPicPr>
          <p:cNvPr id="5" name="Image 0" descr="Every new request lands here — Pulse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7223760" cy="45148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75320" y="1828800"/>
            <a:ext cx="3276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2 OF 6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2194560"/>
            <a:ext cx="3276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new request lands here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75320" y="3063240"/>
            <a:ext cx="327629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 the queue for assessment, tagging and response. The counter shows what has not been picked up.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3A3A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TOUR: TEAM WORKSPACE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Work the queue</a:t>
            </a:r>
            <a:endParaRPr lang="en-US" sz="3200" dirty="0"/>
          </a:p>
        </p:txBody>
      </p:sp>
      <p:sp>
        <p:nvSpPr>
          <p:cNvPr id="4" name="Screenshot frame"/>
          <p:cNvSpPr/>
          <p:nvPr/>
        </p:nvSpPr>
        <p:spPr>
          <a:xfrm>
            <a:off x="603504" y="1792224"/>
            <a:ext cx="7296912" cy="4588002"/>
          </a:xfrm>
          <a:prstGeom prst="roundRect">
            <a:avLst>
              <a:gd name="adj" fmla="val 1196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pic>
        <p:nvPicPr>
          <p:cNvPr id="5" name="Image 0" descr="Pick the next step — Pulse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7223760" cy="45148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75320" y="1828800"/>
            <a:ext cx="3276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3 OF 6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2194560"/>
            <a:ext cx="3276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Pick the next step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75320" y="3063240"/>
            <a:ext cx="32762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a request, review the customer's context, then link it to a product idea, ask for information, or close it with a reason.</a:t>
            </a:r>
            <a:endParaRPr lang="en-US" sz="1500" dirty="0"/>
          </a:p>
        </p:txBody>
      </p:sp>
      <p:sp>
        <p:nvSpPr>
          <p:cNvPr id="9" name="Tip"/>
          <p:cNvSpPr/>
          <p:nvPr/>
        </p:nvSpPr>
        <p:spPr>
          <a:xfrm>
            <a:off x="8275320" y="4709160"/>
            <a:ext cx="3276295" cy="1371600"/>
          </a:xfrm>
          <a:prstGeom prst="roundRect">
            <a:avLst>
              <a:gd name="adj" fmla="val 5333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458200" y="4800600"/>
            <a:ext cx="2910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TIP  </a:t>
            </a:r>
            <a:pPr indent="0" marL="0">
              <a:buNone/>
            </a:pPr>
            <a:r>
              <a:rPr lang="en-US" sz="1400" dirty="0">
                <a:solidFill>
                  <a:srgbClr val="1717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Required fields change by status. A request cannot reach Released without notes and an availability date.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3A3A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TOUR: TEAM WORKSPACE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 ideas</a:t>
            </a:r>
            <a:endParaRPr lang="en-US" sz="3200" dirty="0"/>
          </a:p>
        </p:txBody>
      </p:sp>
      <p:sp>
        <p:nvSpPr>
          <p:cNvPr id="4" name="Screenshot frame"/>
          <p:cNvSpPr/>
          <p:nvPr/>
        </p:nvSpPr>
        <p:spPr>
          <a:xfrm>
            <a:off x="603504" y="1792224"/>
            <a:ext cx="7296912" cy="4588002"/>
          </a:xfrm>
          <a:prstGeom prst="roundRect">
            <a:avLst>
              <a:gd name="adj" fmla="val 1196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pic>
        <p:nvPicPr>
          <p:cNvPr id="5" name="Image 0" descr="One idea, many requests — Pulse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7223760" cy="45148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75320" y="1828800"/>
            <a:ext cx="3276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4 OF 6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2194560"/>
            <a:ext cx="3276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idea, many requests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75320" y="3063240"/>
            <a:ext cx="327629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Consolidate duplicate requests behind one canonical idea. Score it, stage it on the roadmap, and publish it explicitly in customer-safe language.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3A3A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TOUR: TEAM WORKSPACE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Releases</a:t>
            </a:r>
            <a:endParaRPr lang="en-US" sz="3200" dirty="0"/>
          </a:p>
        </p:txBody>
      </p:sp>
      <p:sp>
        <p:nvSpPr>
          <p:cNvPr id="4" name="Screenshot frame"/>
          <p:cNvSpPr/>
          <p:nvPr/>
        </p:nvSpPr>
        <p:spPr>
          <a:xfrm>
            <a:off x="603504" y="1792224"/>
            <a:ext cx="7296912" cy="4588002"/>
          </a:xfrm>
          <a:prstGeom prst="roundRect">
            <a:avLst>
              <a:gd name="adj" fmla="val 1196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pic>
        <p:nvPicPr>
          <p:cNvPr id="5" name="Image 0" descr="Bundle what shipped — Pulse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7223760" cy="45148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75320" y="1828800"/>
            <a:ext cx="3276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5 OF 6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2194560"/>
            <a:ext cx="3276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Bundle what shipped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75320" y="3063240"/>
            <a:ext cx="32762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Group ideas into a release with notes and an availability date. Publishing a release notifies the customers who asked.</a:t>
            </a:r>
            <a:endParaRPr lang="en-US" sz="1500" dirty="0"/>
          </a:p>
        </p:txBody>
      </p:sp>
      <p:sp>
        <p:nvSpPr>
          <p:cNvPr id="9" name="Tip"/>
          <p:cNvSpPr/>
          <p:nvPr/>
        </p:nvSpPr>
        <p:spPr>
          <a:xfrm>
            <a:off x="8275320" y="4709160"/>
            <a:ext cx="3276295" cy="1371600"/>
          </a:xfrm>
          <a:prstGeom prst="roundRect">
            <a:avLst>
              <a:gd name="adj" fmla="val 5333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458200" y="4800600"/>
            <a:ext cx="2910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TIP  </a:t>
            </a:r>
            <a:pPr indent="0" marL="0">
              <a:buNone/>
            </a:pPr>
            <a:r>
              <a:rPr lang="en-US" sz="1400" dirty="0">
                <a:solidFill>
                  <a:srgbClr val="1717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Draft customer email on a published release to start a communication.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3A3A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TOUR: TEAM WORKSPACE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Analytics</a:t>
            </a:r>
            <a:endParaRPr lang="en-US" sz="3200" dirty="0"/>
          </a:p>
        </p:txBody>
      </p:sp>
      <p:sp>
        <p:nvSpPr>
          <p:cNvPr id="4" name="Screenshot frame"/>
          <p:cNvSpPr/>
          <p:nvPr/>
        </p:nvSpPr>
        <p:spPr>
          <a:xfrm>
            <a:off x="603504" y="1792224"/>
            <a:ext cx="7296912" cy="4588002"/>
          </a:xfrm>
          <a:prstGeom prst="roundRect">
            <a:avLst>
              <a:gd name="adj" fmla="val 1196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pic>
        <p:nvPicPr>
          <p:cNvPr id="5" name="Image 0" descr="See the shape of demand — Pulse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7223760" cy="45148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75320" y="1828800"/>
            <a:ext cx="3276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6 OF 6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2194560"/>
            <a:ext cx="3276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 the shape of demand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75320" y="3063240"/>
            <a:ext cx="327629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Request volume, outcomes, response times and distribution across the portfolio, so prioritization rests on data.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3A3A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4B5F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8346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 communications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40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3A3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Tell customers what shipped, in their language.</a:t>
            </a:r>
            <a:endParaRPr lang="en-US" sz="1800" dirty="0"/>
          </a:p>
        </p:txBody>
      </p:sp>
      <p:sp>
        <p:nvSpPr>
          <p:cNvPr id="5" name="Brand stripe 1"/>
          <p:cNvSpPr/>
          <p:nvPr/>
        </p:nvSpPr>
        <p:spPr>
          <a:xfrm>
            <a:off x="0" y="6766560"/>
            <a:ext cx="3047924" cy="91440"/>
          </a:xfrm>
          <a:prstGeom prst="rect">
            <a:avLst/>
          </a:prstGeom>
          <a:solidFill>
            <a:srgbClr val="F9C815"/>
          </a:solidFill>
          <a:ln w="12700">
            <a:solidFill>
              <a:srgbClr val="F9C815"/>
            </a:solidFill>
            <a:prstDash val="solid"/>
          </a:ln>
        </p:spPr>
      </p:sp>
      <p:sp>
        <p:nvSpPr>
          <p:cNvPr id="6" name="Brand stripe 2"/>
          <p:cNvSpPr/>
          <p:nvPr/>
        </p:nvSpPr>
        <p:spPr>
          <a:xfrm>
            <a:off x="3047924" y="6766560"/>
            <a:ext cx="3047924" cy="91440"/>
          </a:xfrm>
          <a:prstGeom prst="rect">
            <a:avLst/>
          </a:prstGeom>
          <a:solidFill>
            <a:srgbClr val="F07124"/>
          </a:solidFill>
          <a:ln w="12700">
            <a:solidFill>
              <a:srgbClr val="F07124"/>
            </a:solidFill>
            <a:prstDash val="solid"/>
          </a:ln>
        </p:spPr>
      </p:sp>
      <p:sp>
        <p:nvSpPr>
          <p:cNvPr id="7" name="Brand stripe 3"/>
          <p:cNvSpPr/>
          <p:nvPr/>
        </p:nvSpPr>
        <p:spPr>
          <a:xfrm>
            <a:off x="6095848" y="6766560"/>
            <a:ext cx="3047924" cy="91440"/>
          </a:xfrm>
          <a:prstGeom prst="rect">
            <a:avLst/>
          </a:prstGeom>
          <a:solidFill>
            <a:srgbClr val="ED0E78"/>
          </a:solidFill>
          <a:ln w="12700">
            <a:solidFill>
              <a:srgbClr val="ED0E78"/>
            </a:solidFill>
            <a:prstDash val="solid"/>
          </a:ln>
        </p:spPr>
      </p:sp>
      <p:sp>
        <p:nvSpPr>
          <p:cNvPr id="8" name="Brand stripe 4"/>
          <p:cNvSpPr/>
          <p:nvPr/>
        </p:nvSpPr>
        <p:spPr>
          <a:xfrm>
            <a:off x="9143771" y="6766560"/>
            <a:ext cx="3047924" cy="91440"/>
          </a:xfrm>
          <a:prstGeom prst="rect">
            <a:avLst/>
          </a:prstGeom>
          <a:solidFill>
            <a:srgbClr val="6640A2"/>
          </a:solidFill>
          <a:ln w="12700">
            <a:solidFill>
              <a:srgbClr val="6640A2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TOUR: CUSTOMER COMMUNICATIONS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Compose a communication</a:t>
            </a:r>
            <a:endParaRPr lang="en-US" sz="3200" dirty="0"/>
          </a:p>
        </p:txBody>
      </p:sp>
      <p:sp>
        <p:nvSpPr>
          <p:cNvPr id="4" name="Screenshot frame"/>
          <p:cNvSpPr/>
          <p:nvPr/>
        </p:nvSpPr>
        <p:spPr>
          <a:xfrm>
            <a:off x="603504" y="1792224"/>
            <a:ext cx="7296912" cy="4588002"/>
          </a:xfrm>
          <a:prstGeom prst="roundRect">
            <a:avLst>
              <a:gd name="adj" fmla="val 1196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pic>
        <p:nvPicPr>
          <p:cNvPr id="5" name="Image 0" descr="Start from a template — Pulse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7223760" cy="45148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75320" y="1828800"/>
            <a:ext cx="3276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2 OF 4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2194560"/>
            <a:ext cx="3276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Start from a template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75320" y="3063240"/>
            <a:ext cx="327629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Choose a product update, service notice or plain announcement. Each template is branded and bilingual. Published releases also offer Draft customer email.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3A3A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TOUR: CUSTOMER COMMUNICATIONS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Choose recipients</a:t>
            </a:r>
            <a:endParaRPr lang="en-US" sz="3200" dirty="0"/>
          </a:p>
        </p:txBody>
      </p:sp>
      <p:sp>
        <p:nvSpPr>
          <p:cNvPr id="4" name="Screenshot frame"/>
          <p:cNvSpPr/>
          <p:nvPr/>
        </p:nvSpPr>
        <p:spPr>
          <a:xfrm>
            <a:off x="603504" y="1792224"/>
            <a:ext cx="7296912" cy="4588002"/>
          </a:xfrm>
          <a:prstGeom prst="roundRect">
            <a:avLst>
              <a:gd name="adj" fmla="val 1196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pic>
        <p:nvPicPr>
          <p:cNvPr id="5" name="Image 0" descr="Members and contacts — Pulse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7223760" cy="45148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75320" y="1828800"/>
            <a:ext cx="3276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3 OF 4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2194560"/>
            <a:ext cx="3276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Members and contacts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75320" y="3063240"/>
            <a:ext cx="32762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Pulse members receive communications automatically. Add contacts for people without a Pulse account. Company admins maintain their own company's list.</a:t>
            </a:r>
            <a:endParaRPr lang="en-US" sz="1500" dirty="0"/>
          </a:p>
        </p:txBody>
      </p:sp>
      <p:sp>
        <p:nvSpPr>
          <p:cNvPr id="9" name="Tip"/>
          <p:cNvSpPr/>
          <p:nvPr/>
        </p:nvSpPr>
        <p:spPr>
          <a:xfrm>
            <a:off x="8275320" y="4709160"/>
            <a:ext cx="3276295" cy="1371600"/>
          </a:xfrm>
          <a:prstGeom prst="roundRect">
            <a:avLst>
              <a:gd name="adj" fmla="val 5333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458200" y="4800600"/>
            <a:ext cx="2910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TIP  </a:t>
            </a:r>
            <a:pPr indent="0" marL="0">
              <a:buNone/>
            </a:pPr>
            <a:r>
              <a:rPr lang="en-US" sz="1400" dirty="0">
                <a:solidFill>
                  <a:srgbClr val="1717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Unsubscribes and bounces enter the suppression list and are honored on every future send.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3A3A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TOUR: CUSTOMER COMMUNICATIONS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SendGrid settings</a:t>
            </a:r>
            <a:endParaRPr lang="en-US" sz="3200" dirty="0"/>
          </a:p>
        </p:txBody>
      </p:sp>
      <p:sp>
        <p:nvSpPr>
          <p:cNvPr id="4" name="Screenshot frame"/>
          <p:cNvSpPr/>
          <p:nvPr/>
        </p:nvSpPr>
        <p:spPr>
          <a:xfrm>
            <a:off x="603504" y="1792224"/>
            <a:ext cx="7296912" cy="4588002"/>
          </a:xfrm>
          <a:prstGeom prst="roundRect">
            <a:avLst>
              <a:gd name="adj" fmla="val 1196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pic>
        <p:nvPicPr>
          <p:cNvPr id="5" name="Image 0" descr="Sending is switched on deliberately — Pulse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7223760" cy="45148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75320" y="1828800"/>
            <a:ext cx="3276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4 OF 4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2194560"/>
            <a:ext cx="3276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Sending is switched on deliberately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75320" y="3063240"/>
            <a:ext cx="327629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admins enable sending, choose the sender, keep safe mode on until the first real send, and verify the configuration under Settings.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3A3A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4B5F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8346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Administration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40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3A3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admin only.</a:t>
            </a:r>
            <a:endParaRPr lang="en-US" sz="1800" dirty="0"/>
          </a:p>
        </p:txBody>
      </p:sp>
      <p:sp>
        <p:nvSpPr>
          <p:cNvPr id="5" name="Brand stripe 1"/>
          <p:cNvSpPr/>
          <p:nvPr/>
        </p:nvSpPr>
        <p:spPr>
          <a:xfrm>
            <a:off x="0" y="6766560"/>
            <a:ext cx="3047924" cy="91440"/>
          </a:xfrm>
          <a:prstGeom prst="rect">
            <a:avLst/>
          </a:prstGeom>
          <a:solidFill>
            <a:srgbClr val="F9C815"/>
          </a:solidFill>
          <a:ln w="12700">
            <a:solidFill>
              <a:srgbClr val="F9C815"/>
            </a:solidFill>
            <a:prstDash val="solid"/>
          </a:ln>
        </p:spPr>
      </p:sp>
      <p:sp>
        <p:nvSpPr>
          <p:cNvPr id="6" name="Brand stripe 2"/>
          <p:cNvSpPr/>
          <p:nvPr/>
        </p:nvSpPr>
        <p:spPr>
          <a:xfrm>
            <a:off x="3047924" y="6766560"/>
            <a:ext cx="3047924" cy="91440"/>
          </a:xfrm>
          <a:prstGeom prst="rect">
            <a:avLst/>
          </a:prstGeom>
          <a:solidFill>
            <a:srgbClr val="F07124"/>
          </a:solidFill>
          <a:ln w="12700">
            <a:solidFill>
              <a:srgbClr val="F07124"/>
            </a:solidFill>
            <a:prstDash val="solid"/>
          </a:ln>
        </p:spPr>
      </p:sp>
      <p:sp>
        <p:nvSpPr>
          <p:cNvPr id="7" name="Brand stripe 3"/>
          <p:cNvSpPr/>
          <p:nvPr/>
        </p:nvSpPr>
        <p:spPr>
          <a:xfrm>
            <a:off x="6095848" y="6766560"/>
            <a:ext cx="3047924" cy="91440"/>
          </a:xfrm>
          <a:prstGeom prst="rect">
            <a:avLst/>
          </a:prstGeom>
          <a:solidFill>
            <a:srgbClr val="ED0E78"/>
          </a:solidFill>
          <a:ln w="12700">
            <a:solidFill>
              <a:srgbClr val="ED0E78"/>
            </a:solidFill>
            <a:prstDash val="solid"/>
          </a:ln>
        </p:spPr>
      </p:sp>
      <p:sp>
        <p:nvSpPr>
          <p:cNvPr id="8" name="Brand stripe 4"/>
          <p:cNvSpPr/>
          <p:nvPr/>
        </p:nvSpPr>
        <p:spPr>
          <a:xfrm>
            <a:off x="9143771" y="6766560"/>
            <a:ext cx="3047924" cy="91440"/>
          </a:xfrm>
          <a:prstGeom prst="rect">
            <a:avLst/>
          </a:prstGeom>
          <a:solidFill>
            <a:srgbClr val="6640A2"/>
          </a:solidFill>
          <a:ln w="12700">
            <a:solidFill>
              <a:srgbClr val="6640A2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TOUR: ADMIN CONTROLS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 settings</a:t>
            </a:r>
            <a:endParaRPr lang="en-US" sz="3200" dirty="0"/>
          </a:p>
        </p:txBody>
      </p:sp>
      <p:sp>
        <p:nvSpPr>
          <p:cNvPr id="4" name="Screenshot frame"/>
          <p:cNvSpPr/>
          <p:nvPr/>
        </p:nvSpPr>
        <p:spPr>
          <a:xfrm>
            <a:off x="603504" y="1792224"/>
            <a:ext cx="7296912" cy="4588002"/>
          </a:xfrm>
          <a:prstGeom prst="roundRect">
            <a:avLst>
              <a:gd name="adj" fmla="val 1196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pic>
        <p:nvPicPr>
          <p:cNvPr id="5" name="Image 0" descr="Policy in one place — Pulse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7223760" cy="45148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75320" y="1828800"/>
            <a:ext cx="3276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1 OF 4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2194560"/>
            <a:ext cx="3276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Policy in one place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75320" y="3063240"/>
            <a:ext cx="327629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Attachment policy, scoring weights, taxonomy, webhooks and onboarding are configured under Settings.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3A3A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TOUR: ADMIN CONTROLS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Onboarding tours</a:t>
            </a:r>
            <a:endParaRPr lang="en-US" sz="3200" dirty="0"/>
          </a:p>
        </p:txBody>
      </p:sp>
      <p:sp>
        <p:nvSpPr>
          <p:cNvPr id="4" name="Screenshot frame"/>
          <p:cNvSpPr/>
          <p:nvPr/>
        </p:nvSpPr>
        <p:spPr>
          <a:xfrm>
            <a:off x="603504" y="1792224"/>
            <a:ext cx="7296912" cy="4588002"/>
          </a:xfrm>
          <a:prstGeom prst="roundRect">
            <a:avLst>
              <a:gd name="adj" fmla="val 1196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pic>
        <p:nvPicPr>
          <p:cNvPr id="5" name="Image 0" descr="Control who sees which tour — Pulse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7223760" cy="45148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75320" y="1828800"/>
            <a:ext cx="3276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2 OF 4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2194560"/>
            <a:ext cx="3276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Control who sees which tour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75320" y="3063240"/>
            <a:ext cx="327629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master switch turns the whole system on or off. Per tour you decide availability, audience and auto-start.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3A3A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TOUR: ADMIN CONTROLS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Who has seen what</a:t>
            </a:r>
            <a:endParaRPr lang="en-US" sz="3200" dirty="0"/>
          </a:p>
        </p:txBody>
      </p:sp>
      <p:sp>
        <p:nvSpPr>
          <p:cNvPr id="4" name="Screenshot frame"/>
          <p:cNvSpPr/>
          <p:nvPr/>
        </p:nvSpPr>
        <p:spPr>
          <a:xfrm>
            <a:off x="603504" y="1792224"/>
            <a:ext cx="7296912" cy="4588002"/>
          </a:xfrm>
          <a:prstGeom prst="roundRect">
            <a:avLst>
              <a:gd name="adj" fmla="val 1196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pic>
        <p:nvPicPr>
          <p:cNvPr id="5" name="Image 0" descr="Progress by person — Pulse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7223760" cy="45148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75320" y="1828800"/>
            <a:ext cx="3276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3 OF 4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2194560"/>
            <a:ext cx="3276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Progress by person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75320" y="3063240"/>
            <a:ext cx="327629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See each user's status and last step per tour, and filter by tour or status. People can hide tours forever; only they can restore them.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3A3A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TOUR: ADMIN CONTROLS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Background delivery</a:t>
            </a:r>
            <a:endParaRPr lang="en-US" sz="3200" dirty="0"/>
          </a:p>
        </p:txBody>
      </p:sp>
      <p:sp>
        <p:nvSpPr>
          <p:cNvPr id="4" name="Screenshot frame"/>
          <p:cNvSpPr/>
          <p:nvPr/>
        </p:nvSpPr>
        <p:spPr>
          <a:xfrm>
            <a:off x="603504" y="1792224"/>
            <a:ext cx="7296912" cy="4588002"/>
          </a:xfrm>
          <a:prstGeom prst="roundRect">
            <a:avLst>
              <a:gd name="adj" fmla="val 1196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pic>
        <p:nvPicPr>
          <p:cNvPr id="5" name="Image 0" descr="Watch the queues — Pulse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7223760" cy="45148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75320" y="1828800"/>
            <a:ext cx="3276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4 OF 4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2194560"/>
            <a:ext cx="3276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Watch the queues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75320" y="3063240"/>
            <a:ext cx="327629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Failed deliveries stay visible until an administrator retries them. The card covers notifications, webhooks and communications, including dead letters.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3A3A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USERS AND SIGN-IN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Provision people, then choose how they sign in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640080" y="1965960"/>
            <a:ext cx="3454298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457200" cy="4572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3464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Add the user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566160"/>
            <a:ext cx="29056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 Users, invite the person and set their organization membership and role.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368698" y="1965960"/>
            <a:ext cx="3454298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3018" y="2240280"/>
            <a:ext cx="457200" cy="4572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43018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43018" y="283464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Pick the method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43018" y="3566160"/>
            <a:ext cx="29056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 Authentication, choose DataCentral launch, Microsoft Entra ID or email passcode per user.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8097317" y="1965960"/>
            <a:ext cx="3454298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71637" y="2240280"/>
            <a:ext cx="457200" cy="4572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71637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71637" y="283464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Verify access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371637" y="3566160"/>
            <a:ext cx="29056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 the audit log. Authentication identifies the person; membership authorizes their access.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3A3A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OPERATING PULSE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short weekly checklist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640080" y="1965960"/>
            <a:ext cx="3454298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Monday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71800"/>
            <a:ext cx="290565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Clear the triage inbox. Every request has a next step and an owner.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368698" y="1965960"/>
            <a:ext cx="3454298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43018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Midweek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643018" y="2971800"/>
            <a:ext cx="290565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Consolidate duplicates, rescore ideas and publish the ones ready for customers.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8097317" y="1965960"/>
            <a:ext cx="3454298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71637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Friday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371637" y="2971800"/>
            <a:ext cx="290565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Release what shipped, send the customer email, and review delivery and dead letters.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3A3A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ataCentr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2011680" cy="26506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24688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Keep the loop closed: request, idea, release, email.</a:t>
            </a:r>
            <a:endParaRPr lang="en-US" sz="3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420624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3A3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? button replays every tour. The help pages hold the full manual for administrators.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DataCentral Pulse · Manager guide</a:t>
            </a:r>
            <a:endParaRPr lang="en-US" sz="1200" dirty="0"/>
          </a:p>
        </p:txBody>
      </p:sp>
      <p:sp>
        <p:nvSpPr>
          <p:cNvPr id="6" name="Brand stripe 1"/>
          <p:cNvSpPr/>
          <p:nvPr/>
        </p:nvSpPr>
        <p:spPr>
          <a:xfrm>
            <a:off x="0" y="6766560"/>
            <a:ext cx="3047924" cy="91440"/>
          </a:xfrm>
          <a:prstGeom prst="rect">
            <a:avLst/>
          </a:prstGeom>
          <a:solidFill>
            <a:srgbClr val="F9C815"/>
          </a:solidFill>
          <a:ln w="12700">
            <a:solidFill>
              <a:srgbClr val="F9C815"/>
            </a:solidFill>
            <a:prstDash val="solid"/>
          </a:ln>
        </p:spPr>
      </p:sp>
      <p:sp>
        <p:nvSpPr>
          <p:cNvPr id="7" name="Brand stripe 2"/>
          <p:cNvSpPr/>
          <p:nvPr/>
        </p:nvSpPr>
        <p:spPr>
          <a:xfrm>
            <a:off x="3047924" y="6766560"/>
            <a:ext cx="3047924" cy="91440"/>
          </a:xfrm>
          <a:prstGeom prst="rect">
            <a:avLst/>
          </a:prstGeom>
          <a:solidFill>
            <a:srgbClr val="F07124"/>
          </a:solidFill>
          <a:ln w="12700">
            <a:solidFill>
              <a:srgbClr val="F07124"/>
            </a:solidFill>
            <a:prstDash val="solid"/>
          </a:ln>
        </p:spPr>
      </p:sp>
      <p:sp>
        <p:nvSpPr>
          <p:cNvPr id="8" name="Brand stripe 3"/>
          <p:cNvSpPr/>
          <p:nvPr/>
        </p:nvSpPr>
        <p:spPr>
          <a:xfrm>
            <a:off x="6095848" y="6766560"/>
            <a:ext cx="3047924" cy="91440"/>
          </a:xfrm>
          <a:prstGeom prst="rect">
            <a:avLst/>
          </a:prstGeom>
          <a:solidFill>
            <a:srgbClr val="ED0E78"/>
          </a:solidFill>
          <a:ln w="12700">
            <a:solidFill>
              <a:srgbClr val="ED0E78"/>
            </a:solidFill>
            <a:prstDash val="solid"/>
          </a:ln>
        </p:spPr>
      </p:sp>
      <p:sp>
        <p:nvSpPr>
          <p:cNvPr id="9" name="Brand stripe 4"/>
          <p:cNvSpPr/>
          <p:nvPr/>
        </p:nvSpPr>
        <p:spPr>
          <a:xfrm>
            <a:off x="9143771" y="6766560"/>
            <a:ext cx="3047924" cy="91440"/>
          </a:xfrm>
          <a:prstGeom prst="rect">
            <a:avLst/>
          </a:prstGeom>
          <a:solidFill>
            <a:srgbClr val="6640A2"/>
          </a:solidFill>
          <a:ln w="12700">
            <a:solidFill>
              <a:srgbClr val="6640A2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DataCentral Pulse">
  <a:themeElements>
    <a:clrScheme name="DataCentral Pulse">
      <a:dk1>
        <a:srgbClr val="171717"/>
      </a:dk1>
      <a:lt1>
        <a:srgbClr val="FFFFFF"/>
      </a:lt1>
      <a:dk2>
        <a:srgbClr val="0A0A0A"/>
      </a:dk2>
      <a:lt2>
        <a:srgbClr val="FAFAFA"/>
      </a:lt2>
      <a:accent1>
        <a:srgbClr val="7C3AED"/>
      </a:accent1>
      <a:accent2>
        <a:srgbClr val="6D28D9"/>
      </a:accent2>
      <a:accent3>
        <a:srgbClr val="8B5CF6"/>
      </a:accent3>
      <a:accent4>
        <a:srgbClr val="F59E0B"/>
      </a:accent4>
      <a:accent5>
        <a:srgbClr val="10B981"/>
      </a:accent5>
      <a:accent6>
        <a:srgbClr val="737373"/>
      </a:accent6>
      <a:hlink>
        <a:srgbClr val="7C3AED"/>
      </a:hlink>
      <a:folHlink>
        <a:srgbClr val="6D28D9"/>
      </a:folHlink>
    </a:clrScheme>
    <a:fontScheme name="DataCentral Puls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DataCentral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DataCentral Pulse — manager guide</dc:title>
  <dc:subject>PptxGenJS Presentation</dc:subject>
  <dc:creator>DataCentral</dc:creator>
  <cp:lastModifiedBy>DataCentral</cp:lastModifiedBy>
  <cp:revision>1</cp:revision>
  <dcterms:created xsi:type="dcterms:W3CDTF">2026-10-15T10:22:07Z</dcterms:created>
  <dcterms:modified xsi:type="dcterms:W3CDTF">2026-10-15T10:22:07Z</dcterms:modified>
</cp:coreProperties>
</file>