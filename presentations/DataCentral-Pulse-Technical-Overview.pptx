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 Pulse · Technical overview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Cent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377440" cy="3132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B5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 PULSE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5603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overview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663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Architecture, integrations and security posture for the engineering team.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Engineering · October 2026</a:t>
            </a:r>
            <a:endParaRPr lang="en-US" sz="1200" dirty="0"/>
          </a:p>
        </p:txBody>
      </p:sp>
      <p:sp>
        <p:nvSpPr>
          <p:cNvPr id="7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8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9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10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and domain model</a:t>
            </a:r>
            <a:endParaRPr lang="en-US" sz="4000" dirty="0"/>
          </a:p>
        </p:txBody>
      </p:sp>
      <p:sp>
        <p:nvSpPr>
          <p:cNvPr id="4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5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6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7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objects, one governed workflow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Request · DCI-####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customer's private submission: problem, impact, attachments and full status history.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 · IDEA-###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DataCentral's canonical record. Consolidates requests, gets scored, and is explicitly published in customer-safe language.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Guarded transitions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validateTransition() enforces required fields per status. Released requires notes and an availability date. Edits and publishes carry an If-Match version.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Fifteen migrations, four groups of tables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Organizations, Users, Memberships, Requests and RequestRevisions, Ideas, RequestIdeaLinks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436544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10864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10864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Comments, Attachments, ScoreSnapshots, RoadmapPlacements, Releases and ReleaseIdeas, IdeaAliases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33008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07328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Communications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Communications, deliveries, events, contacts and suppressions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9029471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03791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Notifications, AuditEvents, IdempotencyKeys, RateLimits, OtpCodes, TourProgress, TourSettings, Settings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4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5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6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7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 path, end to end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2103120"/>
            <a:ext cx="1853123" cy="31089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3044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13044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Browser, DataCentral iframe, Slack, MCP clients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93203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2904683" y="2103120"/>
            <a:ext cx="1853123" cy="31089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9003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79003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79003" y="2971800"/>
            <a:ext cx="13044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proxy.ts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179003" y="3703320"/>
            <a:ext cx="13044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CSP, CSRF, same-origin checks, rate limits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7806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5169286" y="2103120"/>
            <a:ext cx="1853123" cy="31089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3606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360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43606" y="2971800"/>
            <a:ext cx="13044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Next.js 16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43606" y="3703320"/>
            <a:ext cx="13044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Standalone container on Azure App Service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22409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Card"/>
          <p:cNvSpPr/>
          <p:nvPr/>
        </p:nvSpPr>
        <p:spPr>
          <a:xfrm>
            <a:off x="7433889" y="2103120"/>
            <a:ext cx="1853123" cy="31089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08209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08209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08209" y="2971800"/>
            <a:ext cx="13044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Azure SQL and Blob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08209" y="3703320"/>
            <a:ext cx="13044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identity, no stored credentials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87012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Card"/>
          <p:cNvSpPr/>
          <p:nvPr/>
        </p:nvSpPr>
        <p:spPr>
          <a:xfrm>
            <a:off x="9698492" y="2103120"/>
            <a:ext cx="1853123" cy="31089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72812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7281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972812" y="2971800"/>
            <a:ext cx="13044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Vault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972812" y="3703320"/>
            <a:ext cx="13044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Secrets, plus Application Insights telemetry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shell, feature modules, a versioned API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app/features is the UI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app/page.tsx is a thin entry. Roughly 11,000 lines of feature components sit under app/features: triage, ideas, releases, communications, settings, analytics.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77 REST API paths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real surface lives under /api/v1, documented in a live OpenAPI 3.1 contract at /api/v1/openapi.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proxy.ts is the gatekeeper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CSP, CSRF and rate limits run here, ahead of every request. Limits are stored in dbo.RateLimits so they hold across restarts.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Hand-written SQL, not an ORM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Raw, parameterized queries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repository talks to Azure SQL directly through mssql. drizzle-orm is present only as empty scaffolding.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Dual-mode repositories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AZURE_SQL_* configured, the same code runs against a seeded in-memory adapter. The whole test suite runs this way.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Migrations, not model sync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Fifteen versioned .sql files under database/migrations/, applied in order and tracked in dbo.SchemaMigrations.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CONCURRENCY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Optimistic locking and idempotent writes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Opaque version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Requests, ideas and releases expose a version. Edit and publish APIs require If-Match; stale clients receive 412 and must reread.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Idempotency-Key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and publish operations replay safely. Keys are scoped to user, organization and operation, and bound to a hash of the body.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rule for chat and MCP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Assistant and MCP tools must present the version they observed, so an agent cannot overwrite a human's newer edit.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and access</a:t>
            </a:r>
            <a:endParaRPr lang="en-US" sz="4000" dirty="0"/>
          </a:p>
        </p:txBody>
      </p:sp>
      <p:sp>
        <p:nvSpPr>
          <p:cNvPr id="4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5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6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7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sign-in paths, one session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DataCentral embed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HMAC-signed launch payload (dcData/dcSig) verified against DC_APP_SECRET. The primary path.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436544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10864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Standalone Entra ID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10864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OIDC with PKCE, state and nonce for direct /auth/login access.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33008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07328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passcode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digits, HMAC digest at rest, 10-minute TTL, 5 attempts, 3 issues per 15 minutes. Only users designated OTP may use it.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9029471" y="1965960"/>
            <a:ext cx="2522144" cy="33832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03791" y="2240280"/>
            <a:ext cx="1973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shared cookie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971800"/>
            <a:ext cx="19735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paths mint the same jose-signed pulse-session JWT, HS256, 12-hour TTL.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Roles live on the membership, not the user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global roles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is per organization membership. The same person can be a Company admin at one customer and a Viewer at another.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side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Company admin, Requester, Viewer.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side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contributor, Product manager, System admin. Enforced server-side on every call, not just hidden in the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AI, Slack and MCP</a:t>
            </a:r>
            <a:endParaRPr lang="en-US" sz="4000" dirty="0"/>
          </a:p>
        </p:txBody>
      </p:sp>
      <p:sp>
        <p:nvSpPr>
          <p:cNvPr id="4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5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6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7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 tools, scoped to what the caller can see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on the Anthropic API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Tool-use loop, default model claude-opus-4-8, capped at 16 iterations per turn.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 customer, 24 internal, 11 admin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gating is prompt hygiene. The repository layer underneath is the real authorization boundary.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 before you break something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Destructive tools such as publish or merge refuse to run without an explicit confirmation flag.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ASSISTANT, MORE DOORS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Slack and MCP reuse the same brain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Slack via Socket Mode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Message or mention. No inbound webhook. Identity is matched by verified Slack email against dbo.Users.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real MCP server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mcp add --transport http pulse https://{host}/mcp exposes every tool over the Model Context Protocol.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Its own OAuth 2.1 server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client registration, mandatory PKCE and rotating 60-day refresh tokens, built in-house.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Communications</a:t>
            </a:r>
            <a:endParaRPr lang="en-US" sz="4000" dirty="0"/>
          </a:p>
        </p:txBody>
      </p:sp>
      <p:sp>
        <p:nvSpPr>
          <p:cNvPr id="4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5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6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7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COMMUNICATIONS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queued, at-least-once delivery pipeline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Branded bilingual templates. Optional draft from a published release.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59354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3470834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5154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515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5154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Resolve audience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5154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Companies, roles, members and contacts, minus the suppression list.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90108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6301588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5908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590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75908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Send via SendGrid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75908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Leased batches from a job endpoint. Safe mode until first real send.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20861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Card"/>
          <p:cNvSpPr/>
          <p:nvPr/>
        </p:nvSpPr>
        <p:spPr>
          <a:xfrm>
            <a:off x="9132341" y="2103120"/>
            <a:ext cx="2419274" cy="3108960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06661" y="237744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6661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06661" y="2971800"/>
            <a:ext cx="1870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 events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406661" y="3703320"/>
            <a:ext cx="1870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Signed Event Webhook records delivery, bounces and unsubscribes.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COMMUNICATIONS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Failure modes are named, alertable and recoverable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At-least-once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batch whose 15-minute lease expires is sent again, at most five times per delivery.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Misconfiguration stops the run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401 or 403 from SendGrid logs communications.send.misconfigured, gives rows back and dead-letters nothing.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Dead letters are visible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shows the dead-letter count and requeues 100 per click.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Security, testing and deployment</a:t>
            </a:r>
            <a:endParaRPr lang="en-US" sz="4000" dirty="0"/>
          </a:p>
        </p:txBody>
      </p:sp>
      <p:sp>
        <p:nvSpPr>
          <p:cNvPr id="4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5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6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7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passwords or storage keys in the codebase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640080" y="201168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passwords or storage keys anywhere in the codebase. Azure SQL and Blob Storage are reached entirely through managed identity. Source: README.md, infra/main.bicep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10312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Attachments quarantined until a Defender for Storage verdict returns Clean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Downloads re-check parent access and bind to the approved ETag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Webhook payloads signed with HMAC-SHA256 and a timestamp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text, email addresses and filenames are kept out of telemetry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edge cases, not just happy paths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 suites, 11,000+ lines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Domain rules, workflow, auth, OTP, chat, Slack, MCP OAuth, communications, tours and i18n.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Typecheck gates every run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npm test runs tsc --noEmit before a single test executes.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 attack scenarios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CSRF, PKCE, token replay, tenant isolation and anti-enumeration are under test, not assumed.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scripts, managed identity throughout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provision.ps1, once per environment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Deploys the Bicep template, creates the registry and seeds Key Vault secrets.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deploy.ps1, every release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in Azure, applies pending SQL migrations, grants the app identity DB access, restarts and polls health.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scheduled jobs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Notifications, webhooks and communications every minute; retention daily. Authenticated with x-pulse-job-secret.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GATES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between here and general availability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640080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and delivery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 ID tenant and user flows. Verified outbound email domain and SendGrid event-webhook key.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68698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3018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and resilience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Defender-for-Storage wiring, private networking, restore drills and a penetration test.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97317" y="1965960"/>
            <a:ext cx="345429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717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71637" y="224028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and compliance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9718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WCAG 2.2 AA audit, Icelandic copy review, load testing at expected volume and a rollback exercise.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3A3A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Cent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011680" cy="26506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Code, docs and the live environment are ready for a walkthrough.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206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docs/architecture.md, docs/launch-runbook.md and the OpenAPI contract at /api/v1/openapi are the fastest way in.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DataCentral Pulse · Engineering</a:t>
            </a:r>
            <a:endParaRPr lang="en-US" sz="1200" dirty="0"/>
          </a:p>
        </p:txBody>
      </p:sp>
      <p:sp>
        <p:nvSpPr>
          <p:cNvPr id="6" name="Brand stripe 1"/>
          <p:cNvSpPr/>
          <p:nvPr/>
        </p:nvSpPr>
        <p:spPr>
          <a:xfrm>
            <a:off x="0" y="6766560"/>
            <a:ext cx="3047924" cy="91440"/>
          </a:xfrm>
          <a:prstGeom prst="rect">
            <a:avLst/>
          </a:prstGeom>
          <a:solidFill>
            <a:srgbClr val="F9C815"/>
          </a:solidFill>
          <a:ln w="12700">
            <a:solidFill>
              <a:srgbClr val="F9C815"/>
            </a:solidFill>
            <a:prstDash val="solid"/>
          </a:ln>
        </p:spPr>
      </p:sp>
      <p:sp>
        <p:nvSpPr>
          <p:cNvPr id="7" name="Brand stripe 2"/>
          <p:cNvSpPr/>
          <p:nvPr/>
        </p:nvSpPr>
        <p:spPr>
          <a:xfrm>
            <a:off x="3047924" y="6766560"/>
            <a:ext cx="3047924" cy="91440"/>
          </a:xfrm>
          <a:prstGeom prst="rect">
            <a:avLst/>
          </a:prstGeom>
          <a:solidFill>
            <a:srgbClr val="F07124"/>
          </a:solidFill>
          <a:ln w="12700">
            <a:solidFill>
              <a:srgbClr val="F07124"/>
            </a:solidFill>
            <a:prstDash val="solid"/>
          </a:ln>
        </p:spPr>
      </p:sp>
      <p:sp>
        <p:nvSpPr>
          <p:cNvPr id="8" name="Brand stripe 3"/>
          <p:cNvSpPr/>
          <p:nvPr/>
        </p:nvSpPr>
        <p:spPr>
          <a:xfrm>
            <a:off x="6095848" y="6766560"/>
            <a:ext cx="3047924" cy="91440"/>
          </a:xfrm>
          <a:prstGeom prst="rect">
            <a:avLst/>
          </a:prstGeom>
          <a:solidFill>
            <a:srgbClr val="ED0E78"/>
          </a:solidFill>
          <a:ln w="12700">
            <a:solidFill>
              <a:srgbClr val="ED0E78"/>
            </a:solidFill>
            <a:prstDash val="solid"/>
          </a:ln>
        </p:spPr>
      </p:sp>
      <p:sp>
        <p:nvSpPr>
          <p:cNvPr id="9" name="Brand stripe 4"/>
          <p:cNvSpPr/>
          <p:nvPr/>
        </p:nvSpPr>
        <p:spPr>
          <a:xfrm>
            <a:off x="9143771" y="6766560"/>
            <a:ext cx="3047924" cy="91440"/>
          </a:xfrm>
          <a:prstGeom prst="rect">
            <a:avLst/>
          </a:prstGeom>
          <a:solidFill>
            <a:srgbClr val="6640A2"/>
          </a:solidFill>
          <a:ln w="12700">
            <a:solidFill>
              <a:srgbClr val="6640A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DataCentral Pulse">
  <a:themeElements>
    <a:clrScheme name="DataCentral Pulse">
      <a:dk1>
        <a:srgbClr val="171717"/>
      </a:dk1>
      <a:lt1>
        <a:srgbClr val="FFFFFF"/>
      </a:lt1>
      <a:dk2>
        <a:srgbClr val="0A0A0A"/>
      </a:dk2>
      <a:lt2>
        <a:srgbClr val="FAFAFA"/>
      </a:lt2>
      <a:accent1>
        <a:srgbClr val="7C3AED"/>
      </a:accent1>
      <a:accent2>
        <a:srgbClr val="6D28D9"/>
      </a:accent2>
      <a:accent3>
        <a:srgbClr val="8B5CF6"/>
      </a:accent3>
      <a:accent4>
        <a:srgbClr val="F59E0B"/>
      </a:accent4>
      <a:accent5>
        <a:srgbClr val="10B981"/>
      </a:accent5>
      <a:accent6>
        <a:srgbClr val="737373"/>
      </a:accent6>
      <a:hlink>
        <a:srgbClr val="7C3AED"/>
      </a:hlink>
      <a:folHlink>
        <a:srgbClr val="6D28D9"/>
      </a:folHlink>
    </a:clrScheme>
    <a:fontScheme name="DataCentral Puls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DataCentral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DataCentral Pulse — technical overview</dc:title>
  <dc:subject>PptxGenJS Presentation</dc:subject>
  <dc:creator>DataCentral</dc:creator>
  <cp:lastModifiedBy>DataCentral</cp:lastModifiedBy>
  <cp:revision>1</cp:revision>
  <dcterms:created xsi:type="dcterms:W3CDTF">2026-10-15T10:22:03Z</dcterms:created>
  <dcterms:modified xsi:type="dcterms:W3CDTF">2026-10-15T10:22:03Z</dcterms:modified>
</cp:coreProperties>
</file>