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BJARKI~1\AppData\Local\Temp\claude\c--VS-Code-Pulse\737040a4-7a5b-45ed-a466-167903066274\scratchpad\pptx\assets\logos\Logo-WhiteText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2311119" cy="3044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33172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98"/>
              </a:lnSpc>
              <a:buNone/>
            </a:pPr>
            <a:r>
              <a:rPr lang="en-US" sz="43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DataCentral Pulse — technical overview</a:t>
            </a:r>
            <a:endParaRPr lang="en-US" sz="4350" dirty="0"/>
          </a:p>
        </p:txBody>
      </p:sp>
      <p:sp>
        <p:nvSpPr>
          <p:cNvPr id="4" name="Text 1"/>
          <p:cNvSpPr/>
          <p:nvPr/>
        </p:nvSpPr>
        <p:spPr>
          <a:xfrm>
            <a:off x="685800" y="4343400"/>
            <a:ext cx="8778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Architecture, integrations, and security posture for the engineering team.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85800" y="591616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DataCentral Pulse · Engineering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095848" y="591616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0" y="6800850"/>
            <a:ext cx="3047924" cy="57150"/>
          </a:xfrm>
          <a:prstGeom prst="rect">
            <a:avLst/>
          </a:prstGeom>
          <a:solidFill>
            <a:srgbClr val="F9C815"/>
          </a:solidFill>
          <a:ln/>
        </p:spPr>
      </p:sp>
      <p:sp>
        <p:nvSpPr>
          <p:cNvPr id="8" name="Shape 5"/>
          <p:cNvSpPr/>
          <p:nvPr/>
        </p:nvSpPr>
        <p:spPr>
          <a:xfrm>
            <a:off x="3047924" y="6800850"/>
            <a:ext cx="3047924" cy="57150"/>
          </a:xfrm>
          <a:prstGeom prst="rect">
            <a:avLst/>
          </a:prstGeom>
          <a:solidFill>
            <a:srgbClr val="F07124"/>
          </a:solidFill>
          <a:ln/>
        </p:spPr>
      </p:sp>
      <p:sp>
        <p:nvSpPr>
          <p:cNvPr id="9" name="Shape 6"/>
          <p:cNvSpPr/>
          <p:nvPr/>
        </p:nvSpPr>
        <p:spPr>
          <a:xfrm>
            <a:off x="6095848" y="6800850"/>
            <a:ext cx="3047924" cy="57150"/>
          </a:xfrm>
          <a:prstGeom prst="rect">
            <a:avLst/>
          </a:prstGeom>
          <a:solidFill>
            <a:srgbClr val="ED0E78"/>
          </a:solidFill>
          <a:ln/>
        </p:spPr>
      </p:sp>
      <p:sp>
        <p:nvSpPr>
          <p:cNvPr id="10" name="Shape 7"/>
          <p:cNvSpPr/>
          <p:nvPr/>
        </p:nvSpPr>
        <p:spPr>
          <a:xfrm>
            <a:off x="9143771" y="6800850"/>
            <a:ext cx="3047924" cy="57150"/>
          </a:xfrm>
          <a:prstGeom prst="rect">
            <a:avLst/>
          </a:prstGeom>
          <a:solidFill>
            <a:srgbClr val="6640A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8892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3182112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95"/>
              </a:lnSpc>
              <a:buNone/>
            </a:pPr>
            <a:r>
              <a:rPr lang="en-US" sz="34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&amp; domain model</a:t>
            </a:r>
            <a:endParaRPr lang="en-US" sz="3450" dirty="0"/>
          </a:p>
        </p:txBody>
      </p:sp>
      <p:pic>
        <p:nvPicPr>
          <p:cNvPr id="4" name="Image 0" descr="C:\Users\BJARKI~1\AppData\Local\Temp\claude\c--VS-Code-Pulse\737040a4-7a5b-45ed-a466-167903066274\scratchpad\pptx\assets\logos\Logo-Icon-White-Transparen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1162995" y="58293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objects, one governed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Request — DCI-####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customer's private submission: problem, impact, attachments, and full status history.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Idea — IDEA-###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DataCentral's canonical record. Consolidates requests, gets scored, and is explicitly published in customer-safe language.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Guarded transitions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validateTransition() in product-repository.ts enforces required fields per status — e.g. Released requires notes and an availability date.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tables across 11 migrations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Organizations, Users, Memberships, Requests + RequestRevisions, Ideas, RequestIdeaLinks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Workflow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Comments, Attachments, ScoreSnapshots, RoadmapPlacements, Releases + ReleaseIdeas, IdeaAliases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Operational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Notifications, AuditEvents, IdempotencyKeys, OrganizationInterests, Follows, ExternalLinks, Settings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8892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3182112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95"/>
              </a:lnSpc>
              <a:buNone/>
            </a:pPr>
            <a:r>
              <a:rPr lang="en-US" sz="34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Architecture</a:t>
            </a:r>
            <a:endParaRPr lang="en-US" sz="3450" dirty="0"/>
          </a:p>
        </p:txBody>
      </p:sp>
      <p:pic>
        <p:nvPicPr>
          <p:cNvPr id="4" name="Image 0" descr="C:\Users\BJARKI~1\AppData\Local\Temp\claude\c--VS-Code-Pulse\737040a4-7a5b-45ed-a466-167903066274\scratchpad\pptx\assets\logos\Logo-Icon-White-Transparen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1162995" y="58293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Request path,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3886200"/>
            <a:ext cx="1834835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69080"/>
            <a:ext cx="157880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" y="4544568"/>
            <a:ext cx="1615379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Browser · DataCentral iframe · Slack · MCP clients</a:t>
            </a:r>
            <a:endParaRPr lang="en-US" sz="825" dirty="0"/>
          </a:p>
        </p:txBody>
      </p:sp>
      <p:sp>
        <p:nvSpPr>
          <p:cNvPr id="7" name="Shape 5"/>
          <p:cNvSpPr/>
          <p:nvPr/>
        </p:nvSpPr>
        <p:spPr>
          <a:xfrm>
            <a:off x="2520635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32115" y="3886200"/>
            <a:ext cx="1834835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0131" y="4069080"/>
            <a:ext cx="157880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proxy.ts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41843" y="4544568"/>
            <a:ext cx="1615379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CSP, CSRF, same-origin checks, rate limits</a:t>
            </a:r>
            <a:endParaRPr lang="en-US" sz="825" dirty="0"/>
          </a:p>
        </p:txBody>
      </p:sp>
      <p:sp>
        <p:nvSpPr>
          <p:cNvPr id="11" name="Shape 9"/>
          <p:cNvSpPr/>
          <p:nvPr/>
        </p:nvSpPr>
        <p:spPr>
          <a:xfrm>
            <a:off x="4766950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78430" y="3886200"/>
            <a:ext cx="1834835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446" y="4069080"/>
            <a:ext cx="157880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Next.js 16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88158" y="4544568"/>
            <a:ext cx="1615379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Standalone container, Azure App Service</a:t>
            </a:r>
            <a:endParaRPr lang="en-US" sz="825" dirty="0"/>
          </a:p>
        </p:txBody>
      </p:sp>
      <p:sp>
        <p:nvSpPr>
          <p:cNvPr id="15" name="Shape 13"/>
          <p:cNvSpPr/>
          <p:nvPr/>
        </p:nvSpPr>
        <p:spPr>
          <a:xfrm>
            <a:off x="7013265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424745" y="3886200"/>
            <a:ext cx="1834835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2761" y="4069080"/>
            <a:ext cx="157880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Azure SQL + Blob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34473" y="4544568"/>
            <a:ext cx="1615379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Managed identity, no stored credentials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9259580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71060" y="3886200"/>
            <a:ext cx="1834835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99076" y="4069080"/>
            <a:ext cx="157880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Vault + Insights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0788" y="4544568"/>
            <a:ext cx="1615379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Secrets and telemetry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REALITY CHECK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route, not many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app/page.tsx is the app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~6,700 lines, one client component, view-switching in state — not per-page Next.js routing.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45 REST API paths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real surface lives under /api/v1, documented in a live OpenAPI 3.1 contract at /api/v1/openapi.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proxy.ts is the gatekeeper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CSP, CSRF, and rate limits (30–180 req/min by route) run here, ahead of every request.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LAYER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Hand-written SQL, not an 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Raw, parameterized queries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repository talks to Azure SQL directly through mssql. drizzle-orm is in package.json but its schema file is intentionally empty scaffolding.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Dual-mode repositories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AZURE_SQL_* configured, the same code runs against a seeded in-memory adapter — this is also how the entire test suite runs.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Migrations, not model sync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versioned .sql files under database/migrations/, applied in order and tracked in dbo.SchemaMigrations.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8892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3182112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95"/>
              </a:lnSpc>
              <a:buNone/>
            </a:pPr>
            <a:r>
              <a:rPr lang="en-US" sz="34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Identity &amp; access</a:t>
            </a:r>
            <a:endParaRPr lang="en-US" sz="3450" dirty="0"/>
          </a:p>
        </p:txBody>
      </p:sp>
      <p:pic>
        <p:nvPicPr>
          <p:cNvPr id="4" name="Image 0" descr="C:\Users\BJARKI~1\AppData\Local\Temp\claude\c--VS-Code-Pulse\737040a4-7a5b-45ed-a466-167903066274\scratchpad\pptx\assets\logos\Logo-Icon-White-Transparen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1162995" y="58293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sign-in paths, one session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DataCentral embed — primary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HMAC-signed launch payload (dcData/dcSig) verified against DC_APP_SECRET. No Graph token needed.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Standalone Entra ID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OIDC with PKCE, state, and nonce, for direct /auth/login access.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shared cookie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paths mint the same jose-signed, HS256 pulse-session JWT — 12-hour TTL.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AUTHORIZATION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Roles live on the membership, not the user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global roles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is per organization membership — the same person can be a Company admin at one customer and a Viewer at another.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 side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Company admin · Requester · Viewer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Internal side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Internal contributor · Product manager · System admin — enforced server-side on every call, not just hidden in the UI.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8892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3182112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95"/>
              </a:lnSpc>
              <a:buNone/>
            </a:pPr>
            <a:r>
              <a:rPr lang="en-US" sz="34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AI, Slack &amp; MCP</a:t>
            </a:r>
            <a:endParaRPr lang="en-US" sz="3450" dirty="0"/>
          </a:p>
        </p:txBody>
      </p:sp>
      <p:pic>
        <p:nvPicPr>
          <p:cNvPr id="4" name="Image 0" descr="C:\Users\BJARKI~1\AppData\Local\Temp\claude\c--VS-Code-Pulse\737040a4-7a5b-45ed-a466-167903066274\scratchpad\pptx\assets\logos\Logo-Icon-White-Transparen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1162995" y="58293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ASSISTANT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58 tools, scoped to what the caller can see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on the Anthropic API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Tool-use loop, default model claude-opus-4-8, capped at 16 iterations per turn.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24 customer · 23 internal · 11 admin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Group gating is prompt hygiene — the repository layer underneath is the real authorization boundary.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 before you break something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Destructive tools like publish or merge refuse to run without an explicit confirmation flag.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ASSISTANT, MORE DOORS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Slack and MCP reuse the same brain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Slack, via Socket Mode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 or @-mention — no inbound webhook. Identity is matched by verified Slack email against dbo.Users.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 MCP server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claude mcp add --transport http pulse https://{host}/mcp — every one of the 58 tools, over the Model Context Protocol.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Its own OAuth 2.1 server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Dynamic client registration, mandatory PKCE, rotating 60-day refresh tokens — built in-house, not borrowed.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8892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3182112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95"/>
              </a:lnSpc>
              <a:buNone/>
            </a:pPr>
            <a:r>
              <a:rPr lang="en-US" sz="34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Security, testing &amp; deployment</a:t>
            </a:r>
            <a:endParaRPr lang="en-US" sz="3450" dirty="0"/>
          </a:p>
        </p:txBody>
      </p:sp>
      <p:pic>
        <p:nvPicPr>
          <p:cNvPr id="4" name="Image 0" descr="C:\Users\BJARKI~1\AppData\Local\Temp\claude\c--VS-Code-Pulse\737040a4-7a5b-45ed-a466-167903066274\scratchpad\pptx\assets\logos\Logo-Icon-White-Transparen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1162995" y="58293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POSTURE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783080"/>
            <a:ext cx="1082009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spc="-200" kern="0" dirty="0">
                <a:solidFill>
                  <a:srgbClr val="6D28D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685800" y="41605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26"/>
              </a:lnSpc>
              <a:buNone/>
            </a:pPr>
            <a:r>
              <a:rPr lang="en-US" sz="157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passwords or storage keys anywhere in the codebase — Azure SQL and Blob Storage are reached entirely through managed identity.</a:t>
            </a:r>
            <a:endParaRPr lang="en-US" sz="1575" dirty="0"/>
          </a:p>
        </p:txBody>
      </p:sp>
      <p:sp>
        <p:nvSpPr>
          <p:cNvPr id="5" name="Text 3"/>
          <p:cNvSpPr/>
          <p:nvPr/>
        </p:nvSpPr>
        <p:spPr>
          <a:xfrm>
            <a:off x="685800" y="5916168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8" dirty="0">
                <a:solidFill>
                  <a:srgbClr val="A3A3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README.md, infra/main.bicep</a:t>
            </a:r>
            <a:endParaRPr lang="en-US" sz="9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Security edge cases, not just happy paths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 suites, 2,000+ lines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Wired into npm test — domain rules, workflow, auth, chat, Slack, MCP OAuth, tours, and i18n.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Typecheck gates every run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npm test runs tsc --noEmit before a single test executes.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attack scenarios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CSRF, PKCE, token replay, tenant isolation, and anti-enumeration are all under test —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scripts, managed identity throughout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provision.ps1 — once per environment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Deploys the Bicep template, creates the registry, seeds Key Vault secrets.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deploy.ps1 — every release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Builds in Azure (az acr build), applies pending SQL migrations, grants the app identity DB access, restarts, and polls health.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instance, on purpose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Slack Socket Mode, the MCP OAuth cache, and the rate limiter all live in process memory — scaling out needs a shared store first.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LAUNCH GATES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What's between here and general availability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Identity &amp; delivery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External ID tenant / user-flows, verified outbound email domain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Security &amp; resilience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Defender-for-Storage wiring, private networking, backup-restore drills, penetration test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Quality &amp; compliance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WCAG accessibility audit, Icelandic copy review, load testing at expected volume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BJARKI~1\AppData\Local\Temp\claude\c--VS-Code-Pulse\737040a4-7a5b-45ed-a466-167903066274\scratchpad\pptx\assets\logos\Logo-Icon-Original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28600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96"/>
              </a:lnSpc>
              <a:buNone/>
            </a:pPr>
            <a:r>
              <a:rPr lang="en-US" sz="330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Code, docs, and the live environment are ready for a walkthrough.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85800" y="39776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A3A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docs/architecture.md, configInfo.md, and the OpenAPI contract at /api/v1/openapi are the fastest way in.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85800" y="591616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DataCentral Pulse · Engineering</a:t>
            </a:r>
            <a:endParaRPr lang="en-US" sz="1050" dirty="0"/>
          </a:p>
        </p:txBody>
      </p:sp>
      <p:pic>
        <p:nvPicPr>
          <p:cNvPr id="6" name="Image 1" descr="C:\Users\BJARKI~1\AppData\Local\Temp\claude\c--VS-Code-Pulse\737040a4-7a5b-45ed-a466-167903066274\scratchpad\pptx\assets\logos\Logo-WhiteText-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6567" y="5939485"/>
            <a:ext cx="1589328" cy="20939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800850"/>
            <a:ext cx="3047924" cy="57150"/>
          </a:xfrm>
          <a:prstGeom prst="rect">
            <a:avLst/>
          </a:prstGeom>
          <a:solidFill>
            <a:srgbClr val="F9C815"/>
          </a:solidFill>
          <a:ln/>
        </p:spPr>
      </p:sp>
      <p:sp>
        <p:nvSpPr>
          <p:cNvPr id="8" name="Shape 4"/>
          <p:cNvSpPr/>
          <p:nvPr/>
        </p:nvSpPr>
        <p:spPr>
          <a:xfrm>
            <a:off x="3047924" y="6800850"/>
            <a:ext cx="3047924" cy="57150"/>
          </a:xfrm>
          <a:prstGeom prst="rect">
            <a:avLst/>
          </a:prstGeom>
          <a:solidFill>
            <a:srgbClr val="F07124"/>
          </a:solidFill>
          <a:ln/>
        </p:spPr>
      </p:sp>
      <p:sp>
        <p:nvSpPr>
          <p:cNvPr id="9" name="Shape 5"/>
          <p:cNvSpPr/>
          <p:nvPr/>
        </p:nvSpPr>
        <p:spPr>
          <a:xfrm>
            <a:off x="6095848" y="6800850"/>
            <a:ext cx="3047924" cy="57150"/>
          </a:xfrm>
          <a:prstGeom prst="rect">
            <a:avLst/>
          </a:prstGeom>
          <a:solidFill>
            <a:srgbClr val="ED0E78"/>
          </a:solidFill>
          <a:ln/>
        </p:spPr>
      </p:sp>
      <p:sp>
        <p:nvSpPr>
          <p:cNvPr id="10" name="Shape 6"/>
          <p:cNvSpPr/>
          <p:nvPr/>
        </p:nvSpPr>
        <p:spPr>
          <a:xfrm>
            <a:off x="9143771" y="6800850"/>
            <a:ext cx="3047924" cy="57150"/>
          </a:xfrm>
          <a:prstGeom prst="rect">
            <a:avLst/>
          </a:prstGeom>
          <a:solidFill>
            <a:srgbClr val="6640A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DataCentral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DataCentral Pulse — Technical Overview</dc:title>
  <dc:subject>PptxGenJS Presentation</dc:subject>
  <dc:creator>DataCentral</dc:creator>
  <cp:lastModifiedBy>DataCentral</cp:lastModifiedBy>
  <cp:revision>1</cp:revision>
  <dcterms:created xsi:type="dcterms:W3CDTF">2026-07-31T11:55:16Z</dcterms:created>
  <dcterms:modified xsi:type="dcterms:W3CDTF">2026-07-31T11:55:16Z</dcterms:modified>
</cp:coreProperties>
</file>