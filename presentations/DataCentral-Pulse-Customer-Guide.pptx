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A3A3A3"/>
                </a:solidFill>
                <a:latin typeface="IBM Plex Sans" pitchFamily="34" charset="0"/>
                <a:ea typeface="IBM Plex Sans" pitchFamily="34" charset="-122"/>
                <a:cs typeface="IBM Plex Sans" pitchFamily="34" charset="-120"/>
              </a:rPr>
              <a:t>DataCentral Pulse · Customer guide</a:t>
            </a:r>
            <a:endParaRPr lang="en-US" sz="10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0A0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ataCentral">    </p:cNvPr>
          <p:cNvPicPr>
            <a:picLocks noChangeAspect="1"/>
          </p:cNvPicPr>
          <p:nvPr/>
        </p:nvPicPr>
        <p:blipFill>
          <a:blip r:embed="rId1"/>
          <a:stretch>
            <a:fillRect/>
          </a:stretch>
        </p:blipFill>
        <p:spPr>
          <a:xfrm>
            <a:off x="640080" y="548640"/>
            <a:ext cx="2377440" cy="313257"/>
          </a:xfrm>
          <a:prstGeom prst="rect">
            <a:avLst/>
          </a:prstGeom>
        </p:spPr>
      </p:pic>
      <p:sp>
        <p:nvSpPr>
          <p:cNvPr id="3" name="Text 0"/>
          <p:cNvSpPr txBox="1"/>
          <p:nvPr/>
        </p:nvSpPr>
        <p:spPr>
          <a:xfrm>
            <a:off x="640080" y="2148840"/>
            <a:ext cx="9144000" cy="320040"/>
          </a:xfrm>
          <a:prstGeom prst="rect">
            <a:avLst/>
          </a:prstGeom>
          <a:noFill/>
          <a:ln/>
        </p:spPr>
        <p:txBody>
          <a:bodyPr wrap="square" lIns="0" tIns="0" rIns="0" bIns="0" rtlCol="0" anchor="ctr"/>
          <a:lstStyle/>
          <a:p>
            <a:pPr indent="0" marL="0">
              <a:buNone/>
            </a:pPr>
            <a:r>
              <a:rPr lang="en-US" sz="1400" b="1" spc="300" kern="0" dirty="0">
                <a:solidFill>
                  <a:srgbClr val="C4B5FD"/>
                </a:solidFill>
                <a:latin typeface="IBM Plex Sans" pitchFamily="34" charset="0"/>
                <a:ea typeface="IBM Plex Sans" pitchFamily="34" charset="-122"/>
                <a:cs typeface="IBM Plex Sans" pitchFamily="34" charset="-120"/>
              </a:rPr>
              <a:t>CUSTOMER GUIDE</a:t>
            </a:r>
            <a:endParaRPr lang="en-US" sz="1400" dirty="0"/>
          </a:p>
        </p:txBody>
      </p:sp>
      <p:sp>
        <p:nvSpPr>
          <p:cNvPr id="4" name="Text 1"/>
          <p:cNvSpPr txBox="1"/>
          <p:nvPr/>
        </p:nvSpPr>
        <p:spPr>
          <a:xfrm>
            <a:off x="640080" y="2560320"/>
            <a:ext cx="10424160" cy="1920240"/>
          </a:xfrm>
          <a:prstGeom prst="rect">
            <a:avLst/>
          </a:prstGeom>
          <a:noFill/>
          <a:ln/>
        </p:spPr>
        <p:txBody>
          <a:bodyPr wrap="square" lIns="0" tIns="0" rIns="0" bIns="0" rtlCol="0" anchor="t"/>
          <a:lstStyle/>
          <a:p>
            <a:pPr indent="0" marL="0">
              <a:buNone/>
            </a:pPr>
            <a:r>
              <a:rPr lang="en-US" sz="3800" b="1" dirty="0">
                <a:solidFill>
                  <a:srgbClr val="FFFFFF"/>
                </a:solidFill>
                <a:latin typeface="Space Grotesk" pitchFamily="34" charset="0"/>
                <a:ea typeface="Space Grotesk" pitchFamily="34" charset="-122"/>
                <a:cs typeface="Space Grotesk" pitchFamily="34" charset="-120"/>
              </a:rPr>
              <a:t>Get your ideas in front of the DataCentral product team</a:t>
            </a:r>
            <a:endParaRPr lang="en-US" sz="3800" dirty="0"/>
          </a:p>
        </p:txBody>
      </p:sp>
      <p:sp>
        <p:nvSpPr>
          <p:cNvPr id="5" name="Text 2"/>
          <p:cNvSpPr txBox="1"/>
          <p:nvPr/>
        </p:nvSpPr>
        <p:spPr>
          <a:xfrm>
            <a:off x="640080" y="4663440"/>
            <a:ext cx="8778240" cy="914400"/>
          </a:xfrm>
          <a:prstGeom prst="rect">
            <a:avLst/>
          </a:prstGeom>
          <a:noFill/>
          <a:ln/>
        </p:spPr>
        <p:txBody>
          <a:bodyPr wrap="square" lIns="0" tIns="0" rIns="0" bIns="0" rtlCol="0" anchor="t"/>
          <a:lstStyle/>
          <a:p>
            <a:pPr indent="0" marL="0">
              <a:buNone/>
            </a:pPr>
            <a:r>
              <a:rPr lang="en-US" sz="1800" dirty="0">
                <a:solidFill>
                  <a:srgbClr val="A3A3A3"/>
                </a:solidFill>
                <a:latin typeface="IBM Plex Sans" pitchFamily="34" charset="0"/>
                <a:ea typeface="IBM Plex Sans" pitchFamily="34" charset="-122"/>
                <a:cs typeface="IBM Plex Sans" pitchFamily="34" charset="-120"/>
              </a:rPr>
              <a:t>A ten-minute walkthrough of Pulse: finding what has already been asked, submitting a request, and following it to release.</a:t>
            </a:r>
            <a:endParaRPr lang="en-US" sz="1800" dirty="0"/>
          </a:p>
        </p:txBody>
      </p:sp>
      <p:sp>
        <p:nvSpPr>
          <p:cNvPr id="6" name="Text 3"/>
          <p:cNvSpPr txBox="1"/>
          <p:nvPr/>
        </p:nvSpPr>
        <p:spPr>
          <a:xfrm>
            <a:off x="640080" y="5989320"/>
            <a:ext cx="7315200" cy="274320"/>
          </a:xfrm>
          <a:prstGeom prst="rect">
            <a:avLst/>
          </a:prstGeom>
          <a:noFill/>
          <a:ln/>
        </p:spPr>
        <p:txBody>
          <a:bodyPr wrap="square" lIns="0" tIns="0" rIns="0" bIns="0" rtlCol="0" anchor="ctr"/>
          <a:lstStyle/>
          <a:p>
            <a:pPr indent="0" marL="0">
              <a:buNone/>
            </a:pPr>
            <a:r>
              <a:rPr lang="en-US" sz="1200" dirty="0">
                <a:solidFill>
                  <a:srgbClr val="A3A3A3"/>
                </a:solidFill>
                <a:latin typeface="IBM Plex Mono" pitchFamily="34" charset="0"/>
                <a:ea typeface="IBM Plex Mono" pitchFamily="34" charset="-122"/>
                <a:cs typeface="IBM Plex Mono" pitchFamily="34" charset="-120"/>
              </a:rPr>
              <a:t>DataCentral Pulse · For customer teams</a:t>
            </a:r>
            <a:endParaRPr lang="en-US" sz="1200" dirty="0"/>
          </a:p>
        </p:txBody>
      </p:sp>
      <p:sp>
        <p:nvSpPr>
          <p:cNvPr id="7" name="Brand stripe 1"/>
          <p:cNvSpPr/>
          <p:nvPr/>
        </p:nvSpPr>
        <p:spPr>
          <a:xfrm>
            <a:off x="0" y="6766560"/>
            <a:ext cx="3047924" cy="91440"/>
          </a:xfrm>
          <a:prstGeom prst="rect">
            <a:avLst/>
          </a:prstGeom>
          <a:solidFill>
            <a:srgbClr val="F9C815"/>
          </a:solidFill>
          <a:ln w="12700">
            <a:solidFill>
              <a:srgbClr val="F9C815"/>
            </a:solidFill>
            <a:prstDash val="solid"/>
          </a:ln>
        </p:spPr>
      </p:sp>
      <p:sp>
        <p:nvSpPr>
          <p:cNvPr id="8" name="Brand stripe 2"/>
          <p:cNvSpPr/>
          <p:nvPr/>
        </p:nvSpPr>
        <p:spPr>
          <a:xfrm>
            <a:off x="3047924" y="6766560"/>
            <a:ext cx="3047924" cy="91440"/>
          </a:xfrm>
          <a:prstGeom prst="rect">
            <a:avLst/>
          </a:prstGeom>
          <a:solidFill>
            <a:srgbClr val="F07124"/>
          </a:solidFill>
          <a:ln w="12700">
            <a:solidFill>
              <a:srgbClr val="F07124"/>
            </a:solidFill>
            <a:prstDash val="solid"/>
          </a:ln>
        </p:spPr>
      </p:sp>
      <p:sp>
        <p:nvSpPr>
          <p:cNvPr id="9" name="Brand stripe 3"/>
          <p:cNvSpPr/>
          <p:nvPr/>
        </p:nvSpPr>
        <p:spPr>
          <a:xfrm>
            <a:off x="6095848" y="6766560"/>
            <a:ext cx="3047924" cy="91440"/>
          </a:xfrm>
          <a:prstGeom prst="rect">
            <a:avLst/>
          </a:prstGeom>
          <a:solidFill>
            <a:srgbClr val="ED0E78"/>
          </a:solidFill>
          <a:ln w="12700">
            <a:solidFill>
              <a:srgbClr val="ED0E78"/>
            </a:solidFill>
            <a:prstDash val="solid"/>
          </a:ln>
        </p:spPr>
      </p:sp>
      <p:sp>
        <p:nvSpPr>
          <p:cNvPr id="10" name="Brand stripe 4"/>
          <p:cNvSpPr/>
          <p:nvPr/>
        </p:nvSpPr>
        <p:spPr>
          <a:xfrm>
            <a:off x="9143771" y="6766560"/>
            <a:ext cx="3047924" cy="91440"/>
          </a:xfrm>
          <a:prstGeom prst="rect">
            <a:avLst/>
          </a:prstGeom>
          <a:solidFill>
            <a:srgbClr val="6640A2"/>
          </a:solidFill>
          <a:ln w="12700">
            <a:solidFill>
              <a:srgbClr val="6640A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OVERVIEW</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What Pulse does for your team</a:t>
            </a:r>
            <a:endParaRPr lang="en-US" sz="3200" dirty="0"/>
          </a:p>
        </p:txBody>
      </p:sp>
      <p:sp>
        <p:nvSpPr>
          <p:cNvPr id="4" name="Card"/>
          <p:cNvSpPr/>
          <p:nvPr/>
        </p:nvSpPr>
        <p:spPr>
          <a:xfrm>
            <a:off x="640080" y="1965960"/>
            <a:ext cx="3454298" cy="2926080"/>
          </a:xfrm>
          <a:prstGeom prst="roundRect">
            <a:avLst>
              <a:gd name="adj" fmla="val 25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5" name="Shape 3"/>
          <p:cNvSpPr/>
          <p:nvPr/>
        </p:nvSpPr>
        <p:spPr>
          <a:xfrm>
            <a:off x="914400" y="2240280"/>
            <a:ext cx="457200" cy="457200"/>
          </a:xfrm>
          <a:prstGeom prst="ellipse">
            <a:avLst/>
          </a:prstGeom>
          <a:solidFill>
            <a:srgbClr val="EDE9FE"/>
          </a:solidFill>
          <a:ln w="12700">
            <a:solidFill>
              <a:srgbClr val="EDE9FE"/>
            </a:solidFill>
            <a:prstDash val="solid"/>
          </a:ln>
        </p:spPr>
      </p:sp>
      <p:sp>
        <p:nvSpPr>
          <p:cNvPr id="6" name="Text 4"/>
          <p:cNvSpPr txBox="1"/>
          <p:nvPr/>
        </p:nvSpPr>
        <p:spPr>
          <a:xfrm>
            <a:off x="914400"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1</a:t>
            </a:r>
            <a:endParaRPr lang="en-US" sz="1400" dirty="0"/>
          </a:p>
        </p:txBody>
      </p:sp>
      <p:sp>
        <p:nvSpPr>
          <p:cNvPr id="7" name="Text 5"/>
          <p:cNvSpPr txBox="1"/>
          <p:nvPr/>
        </p:nvSpPr>
        <p:spPr>
          <a:xfrm>
            <a:off x="914400" y="283464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Ask</a:t>
            </a:r>
            <a:endParaRPr lang="en-US" sz="1800" dirty="0"/>
          </a:p>
        </p:txBody>
      </p:sp>
      <p:sp>
        <p:nvSpPr>
          <p:cNvPr id="8" name="Text 6"/>
          <p:cNvSpPr txBox="1"/>
          <p:nvPr/>
        </p:nvSpPr>
        <p:spPr>
          <a:xfrm>
            <a:off x="914400" y="3566160"/>
            <a:ext cx="2905658" cy="10972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Search existing ideas, then submit a request when nothing matches.</a:t>
            </a:r>
            <a:endParaRPr lang="en-US" sz="1400" dirty="0"/>
          </a:p>
        </p:txBody>
      </p:sp>
      <p:sp>
        <p:nvSpPr>
          <p:cNvPr id="9" name="Card"/>
          <p:cNvSpPr/>
          <p:nvPr/>
        </p:nvSpPr>
        <p:spPr>
          <a:xfrm>
            <a:off x="4368698" y="1965960"/>
            <a:ext cx="3454298" cy="2926080"/>
          </a:xfrm>
          <a:prstGeom prst="roundRect">
            <a:avLst>
              <a:gd name="adj" fmla="val 25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0" name="Shape 8"/>
          <p:cNvSpPr/>
          <p:nvPr/>
        </p:nvSpPr>
        <p:spPr>
          <a:xfrm>
            <a:off x="4643018" y="2240280"/>
            <a:ext cx="457200" cy="457200"/>
          </a:xfrm>
          <a:prstGeom prst="ellipse">
            <a:avLst/>
          </a:prstGeom>
          <a:solidFill>
            <a:srgbClr val="EDE9FE"/>
          </a:solidFill>
          <a:ln w="12700">
            <a:solidFill>
              <a:srgbClr val="EDE9FE"/>
            </a:solidFill>
            <a:prstDash val="solid"/>
          </a:ln>
        </p:spPr>
      </p:sp>
      <p:sp>
        <p:nvSpPr>
          <p:cNvPr id="11" name="Text 9"/>
          <p:cNvSpPr txBox="1"/>
          <p:nvPr/>
        </p:nvSpPr>
        <p:spPr>
          <a:xfrm>
            <a:off x="4643018"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2</a:t>
            </a:r>
            <a:endParaRPr lang="en-US" sz="1400" dirty="0"/>
          </a:p>
        </p:txBody>
      </p:sp>
      <p:sp>
        <p:nvSpPr>
          <p:cNvPr id="12" name="Text 10"/>
          <p:cNvSpPr txBox="1"/>
          <p:nvPr/>
        </p:nvSpPr>
        <p:spPr>
          <a:xfrm>
            <a:off x="4643018" y="283464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Follow</a:t>
            </a:r>
            <a:endParaRPr lang="en-US" sz="1800" dirty="0"/>
          </a:p>
        </p:txBody>
      </p:sp>
      <p:sp>
        <p:nvSpPr>
          <p:cNvPr id="13" name="Text 11"/>
          <p:cNvSpPr txBox="1"/>
          <p:nvPr/>
        </p:nvSpPr>
        <p:spPr>
          <a:xfrm>
            <a:off x="4643018" y="3566160"/>
            <a:ext cx="2905658" cy="10972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See the status of every request from your organization, in one list.</a:t>
            </a:r>
            <a:endParaRPr lang="en-US" sz="1400" dirty="0"/>
          </a:p>
        </p:txBody>
      </p:sp>
      <p:sp>
        <p:nvSpPr>
          <p:cNvPr id="14" name="Card"/>
          <p:cNvSpPr/>
          <p:nvPr/>
        </p:nvSpPr>
        <p:spPr>
          <a:xfrm>
            <a:off x="8097317" y="1965960"/>
            <a:ext cx="3454298" cy="2926080"/>
          </a:xfrm>
          <a:prstGeom prst="roundRect">
            <a:avLst>
              <a:gd name="adj" fmla="val 25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5" name="Shape 13"/>
          <p:cNvSpPr/>
          <p:nvPr/>
        </p:nvSpPr>
        <p:spPr>
          <a:xfrm>
            <a:off x="8371637" y="2240280"/>
            <a:ext cx="457200" cy="457200"/>
          </a:xfrm>
          <a:prstGeom prst="ellipse">
            <a:avLst/>
          </a:prstGeom>
          <a:solidFill>
            <a:srgbClr val="EDE9FE"/>
          </a:solidFill>
          <a:ln w="12700">
            <a:solidFill>
              <a:srgbClr val="EDE9FE"/>
            </a:solidFill>
            <a:prstDash val="solid"/>
          </a:ln>
        </p:spPr>
      </p:sp>
      <p:sp>
        <p:nvSpPr>
          <p:cNvPr id="16" name="Text 14"/>
          <p:cNvSpPr txBox="1"/>
          <p:nvPr/>
        </p:nvSpPr>
        <p:spPr>
          <a:xfrm>
            <a:off x="8371637"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3</a:t>
            </a:r>
            <a:endParaRPr lang="en-US" sz="1400" dirty="0"/>
          </a:p>
        </p:txBody>
      </p:sp>
      <p:sp>
        <p:nvSpPr>
          <p:cNvPr id="17" name="Text 15"/>
          <p:cNvSpPr txBox="1"/>
          <p:nvPr/>
        </p:nvSpPr>
        <p:spPr>
          <a:xfrm>
            <a:off x="8371637" y="283464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Know</a:t>
            </a:r>
            <a:endParaRPr lang="en-US" sz="1800" dirty="0"/>
          </a:p>
        </p:txBody>
      </p:sp>
      <p:sp>
        <p:nvSpPr>
          <p:cNvPr id="18" name="Text 16"/>
          <p:cNvSpPr txBox="1"/>
          <p:nvPr/>
        </p:nvSpPr>
        <p:spPr>
          <a:xfrm>
            <a:off x="8371637" y="3566160"/>
            <a:ext cx="2905658" cy="10972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Get notified when a request moves, and see what has shipped.</a:t>
            </a:r>
            <a:endParaRPr lang="en-US" sz="1400" dirty="0"/>
          </a:p>
        </p:txBody>
      </p:sp>
      <p:sp>
        <p:nvSpPr>
          <p:cNvPr id="19" name="Text 17"/>
          <p:cNvSpPr txBox="1"/>
          <p:nvPr/>
        </p:nvSpPr>
        <p:spPr>
          <a:xfrm>
            <a:off x="640080" y="5212080"/>
            <a:ext cx="10911535" cy="731520"/>
          </a:xfrm>
          <a:prstGeom prst="rect">
            <a:avLst/>
          </a:prstGeom>
          <a:noFill/>
          <a:ln/>
        </p:spPr>
        <p:txBody>
          <a:bodyPr wrap="square" lIns="0" tIns="0" rIns="0" bIns="0" rtlCol="0" anchor="t"/>
          <a:lstStyle/>
          <a:p>
            <a:pPr indent="0" marL="0">
              <a:buNone/>
            </a:pPr>
            <a:r>
              <a:rPr lang="en-US" sz="1600" dirty="0">
                <a:solidFill>
                  <a:srgbClr val="404040"/>
                </a:solidFill>
                <a:latin typeface="IBM Plex Sans" pitchFamily="34" charset="0"/>
                <a:ea typeface="IBM Plex Sans" pitchFamily="34" charset="-122"/>
                <a:cs typeface="IBM Plex Sans" pitchFamily="34" charset="-120"/>
              </a:rPr>
              <a:t>Your requests stay private to your organization. DataCentral publishes ideas in customer-safe language, so nobody sees another company's raw request.</a:t>
            </a:r>
            <a:endParaRPr lang="en-US" sz="16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SIGNING IN</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Open Pulse the way your organization set it up</a:t>
            </a:r>
            <a:endParaRPr lang="en-US" sz="3200" dirty="0"/>
          </a:p>
        </p:txBody>
      </p:sp>
      <p:sp>
        <p:nvSpPr>
          <p:cNvPr id="4" name="Card"/>
          <p:cNvSpPr/>
          <p:nvPr/>
        </p:nvSpPr>
        <p:spPr>
          <a:xfrm>
            <a:off x="640080" y="1965960"/>
            <a:ext cx="3454298" cy="3108960"/>
          </a:xfrm>
          <a:prstGeom prst="roundRect">
            <a:avLst>
              <a:gd name="adj" fmla="val 2353"/>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5" name="Text 3"/>
          <p:cNvSpPr txBox="1"/>
          <p:nvPr/>
        </p:nvSpPr>
        <p:spPr>
          <a:xfrm>
            <a:off x="914400"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From DataCentral</a:t>
            </a:r>
            <a:endParaRPr lang="en-US" sz="1800" dirty="0"/>
          </a:p>
        </p:txBody>
      </p:sp>
      <p:sp>
        <p:nvSpPr>
          <p:cNvPr id="6" name="Text 4"/>
          <p:cNvSpPr txBox="1"/>
          <p:nvPr/>
        </p:nvSpPr>
        <p:spPr>
          <a:xfrm>
            <a:off x="914400" y="2971800"/>
            <a:ext cx="2905658" cy="187452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Launch Pulse from your DataCentral portal. You arrive signed in, with no second login.</a:t>
            </a:r>
            <a:endParaRPr lang="en-US" sz="1400" dirty="0"/>
          </a:p>
        </p:txBody>
      </p:sp>
      <p:sp>
        <p:nvSpPr>
          <p:cNvPr id="7" name="Card"/>
          <p:cNvSpPr/>
          <p:nvPr/>
        </p:nvSpPr>
        <p:spPr>
          <a:xfrm>
            <a:off x="4368698" y="1965960"/>
            <a:ext cx="3454298" cy="3108960"/>
          </a:xfrm>
          <a:prstGeom prst="roundRect">
            <a:avLst>
              <a:gd name="adj" fmla="val 2353"/>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8" name="Text 6"/>
          <p:cNvSpPr txBox="1"/>
          <p:nvPr/>
        </p:nvSpPr>
        <p:spPr>
          <a:xfrm>
            <a:off x="4643018"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Microsoft sign-in</a:t>
            </a:r>
            <a:endParaRPr lang="en-US" sz="1800" dirty="0"/>
          </a:p>
        </p:txBody>
      </p:sp>
      <p:sp>
        <p:nvSpPr>
          <p:cNvPr id="9" name="Text 7"/>
          <p:cNvSpPr txBox="1"/>
          <p:nvPr/>
        </p:nvSpPr>
        <p:spPr>
          <a:xfrm>
            <a:off x="4643018" y="2971800"/>
            <a:ext cx="2905658" cy="187452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Use your work account at the Pulse address if your organization signs in directly.</a:t>
            </a:r>
            <a:endParaRPr lang="en-US" sz="1400" dirty="0"/>
          </a:p>
        </p:txBody>
      </p:sp>
      <p:sp>
        <p:nvSpPr>
          <p:cNvPr id="10" name="Card"/>
          <p:cNvSpPr/>
          <p:nvPr/>
        </p:nvSpPr>
        <p:spPr>
          <a:xfrm>
            <a:off x="8097317" y="1965960"/>
            <a:ext cx="3454298" cy="3108960"/>
          </a:xfrm>
          <a:prstGeom prst="roundRect">
            <a:avLst>
              <a:gd name="adj" fmla="val 2353"/>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1" name="Text 9"/>
          <p:cNvSpPr txBox="1"/>
          <p:nvPr/>
        </p:nvSpPr>
        <p:spPr>
          <a:xfrm>
            <a:off x="8371637"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Email passcode</a:t>
            </a:r>
            <a:endParaRPr lang="en-US" sz="1800" dirty="0"/>
          </a:p>
        </p:txBody>
      </p:sp>
      <p:sp>
        <p:nvSpPr>
          <p:cNvPr id="12" name="Text 10"/>
          <p:cNvSpPr txBox="1"/>
          <p:nvPr/>
        </p:nvSpPr>
        <p:spPr>
          <a:xfrm>
            <a:off x="8371637" y="2971800"/>
            <a:ext cx="2905658" cy="187452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Enter your email, then the six-digit code we send. It works once and expires after 10 minutes.</a:t>
            </a:r>
            <a:endParaRPr lang="en-US" sz="1400" dirty="0"/>
          </a:p>
        </p:txBody>
      </p:sp>
      <p:sp>
        <p:nvSpPr>
          <p:cNvPr id="13" name="Text 11"/>
          <p:cNvSpPr txBox="1"/>
          <p:nvPr/>
        </p:nvSpPr>
        <p:spPr>
          <a:xfrm>
            <a:off x="640080" y="5303520"/>
            <a:ext cx="10911535" cy="731520"/>
          </a:xfrm>
          <a:prstGeom prst="rect">
            <a:avLst/>
          </a:prstGeom>
          <a:noFill/>
          <a:ln/>
        </p:spPr>
        <p:txBody>
          <a:bodyPr wrap="square" lIns="0" tIns="0" rIns="0" bIns="0" rtlCol="0" anchor="t"/>
          <a:lstStyle/>
          <a:p>
            <a:pPr indent="0" marL="0">
              <a:buNone/>
            </a:pPr>
            <a:r>
              <a:rPr lang="en-US" sz="1600" dirty="0">
                <a:solidFill>
                  <a:srgbClr val="404040"/>
                </a:solidFill>
                <a:latin typeface="IBM Plex Sans" pitchFamily="34" charset="0"/>
                <a:ea typeface="IBM Plex Sans" pitchFamily="34" charset="-122"/>
                <a:cs typeface="IBM Plex Sans" pitchFamily="34" charset="-120"/>
              </a:rPr>
              <a:t>If you belong to several companies, Pulse asks which one to use after you sign in. You can switch from the company selector in the top bar.</a:t>
            </a:r>
            <a:endParaRPr lang="en-US" sz="16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Your home page</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Start from Home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1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Start from Home</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Home shows your organization's active requests, items waiting on you, and what shipped recently. A short guided tour starts the first time you arrive.</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Getting around</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One menu for everything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2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One menu for everything</a:t>
            </a:r>
            <a:endParaRPr lang="en-US" sz="2200" dirty="0"/>
          </a:p>
        </p:txBody>
      </p:sp>
      <p:sp>
        <p:nvSpPr>
          <p:cNvPr id="8" name="Text 5"/>
          <p:cNvSpPr txBox="1"/>
          <p:nvPr/>
        </p:nvSpPr>
        <p:spPr>
          <a:xfrm>
            <a:off x="8275320" y="3063240"/>
            <a:ext cx="3276295" cy="15544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Home, Browse ideas, Roadmap, My requests and Updates all live in the left menu.</a:t>
            </a:r>
            <a:endParaRPr lang="en-US" sz="1500" dirty="0"/>
          </a:p>
        </p:txBody>
      </p:sp>
      <p:sp>
        <p:nvSpPr>
          <p:cNvPr id="9" name="Tip"/>
          <p:cNvSpPr/>
          <p:nvPr/>
        </p:nvSpPr>
        <p:spPr>
          <a:xfrm>
            <a:off x="8275320" y="4709160"/>
            <a:ext cx="3276295" cy="1371600"/>
          </a:xfrm>
          <a:prstGeom prst="roundRect">
            <a:avLst>
              <a:gd name="adj" fmla="val 5333"/>
            </a:avLst>
          </a:prstGeom>
          <a:solidFill>
            <a:srgbClr val="F5F3FF"/>
          </a:solidFill>
          <a:ln w="12700">
            <a:solidFill>
              <a:srgbClr val="EDE9FE"/>
            </a:solidFill>
            <a:prstDash val="solid"/>
          </a:ln>
        </p:spPr>
      </p:sp>
      <p:sp>
        <p:nvSpPr>
          <p:cNvPr id="10" name="Text 7"/>
          <p:cNvSpPr txBox="1"/>
          <p:nvPr/>
        </p:nvSpPr>
        <p:spPr>
          <a:xfrm>
            <a:off x="8458200" y="4800600"/>
            <a:ext cx="2910535" cy="1188720"/>
          </a:xfrm>
          <a:prstGeom prst="rect">
            <a:avLst/>
          </a:prstGeom>
          <a:noFill/>
          <a:ln/>
        </p:spPr>
        <p:txBody>
          <a:bodyPr wrap="square" lIns="0" tIns="0" rIns="0" bIns="0" rtlCol="0" anchor="t"/>
          <a:lstStyle/>
          <a:p>
            <a:pPr indent="0" marL="0">
              <a:buNone/>
            </a:pPr>
            <a:r>
              <a:rPr lang="en-US" sz="1100" b="1" spc="200" kern="0" dirty="0">
                <a:solidFill>
                  <a:srgbClr val="7C3AED"/>
                </a:solidFill>
                <a:latin typeface="IBM Plex Sans" pitchFamily="34" charset="0"/>
                <a:ea typeface="IBM Plex Sans" pitchFamily="34" charset="-122"/>
                <a:cs typeface="IBM Plex Sans" pitchFamily="34" charset="-120"/>
              </a:rPr>
              <a:t>TIP  </a:t>
            </a:r>
            <a:pPr indent="0" marL="0">
              <a:buNone/>
            </a:pPr>
            <a:r>
              <a:rPr lang="en-US" sz="1400" dirty="0">
                <a:solidFill>
                  <a:srgbClr val="171717"/>
                </a:solidFill>
                <a:latin typeface="IBM Plex Sans" pitchFamily="34" charset="0"/>
                <a:ea typeface="IBM Plex Sans" pitchFamily="34" charset="-122"/>
                <a:cs typeface="IBM Plex Sans" pitchFamily="34" charset="-120"/>
              </a:rPr>
              <a:t>The DataCentral team section appears only for internal staff. Customers never see it.</a:t>
            </a:r>
            <a:endParaRPr lang="en-US" sz="11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Search before you ask</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Check what already exists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3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Check what already exists</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Search existing ideas before you submit. Another team may already have asked for the same thing, and you can add your organization's interest instead.</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Your status at a glance</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Three numbers that matter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5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Three numbers that matter</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Active requests, requests that need your input, and recently released items. Select a tile to open the matching list.</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Follow your requests</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The latest activity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6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The latest activity</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Open a request to read comments, see attachments and review its status history. Edits are version-checked, so two colleagues never overwrite each other silently.</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286000"/>
            <a:ext cx="2743200" cy="548640"/>
          </a:xfrm>
          <a:prstGeom prst="rect">
            <a:avLst/>
          </a:prstGeom>
          <a:noFill/>
          <a:ln/>
        </p:spPr>
        <p:txBody>
          <a:bodyPr wrap="square" lIns="0" tIns="0" rIns="0" bIns="0" rtlCol="0" anchor="ctr"/>
          <a:lstStyle/>
          <a:p>
            <a:pPr indent="0" marL="0">
              <a:buNone/>
            </a:pPr>
            <a:r>
              <a:rPr lang="en-US" sz="2000" dirty="0">
                <a:solidFill>
                  <a:srgbClr val="C4B5FD"/>
                </a:solidFill>
                <a:latin typeface="IBM Plex Mono" pitchFamily="34" charset="0"/>
                <a:ea typeface="IBM Plex Mono" pitchFamily="34" charset="-122"/>
                <a:cs typeface="IBM Plex Mono" pitchFamily="34" charset="-120"/>
              </a:rPr>
              <a:t>01</a:t>
            </a:r>
            <a:endParaRPr lang="en-US" sz="2000" dirty="0"/>
          </a:p>
        </p:txBody>
      </p:sp>
      <p:sp>
        <p:nvSpPr>
          <p:cNvPr id="3" name="Text 1"/>
          <p:cNvSpPr txBox="1"/>
          <p:nvPr/>
        </p:nvSpPr>
        <p:spPr>
          <a:xfrm>
            <a:off x="640080" y="283464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Submit a request</a:t>
            </a:r>
            <a:endParaRPr lang="en-US" sz="4000" dirty="0"/>
          </a:p>
        </p:txBody>
      </p:sp>
      <p:sp>
        <p:nvSpPr>
          <p:cNvPr id="4" name="Text 2"/>
          <p:cNvSpPr txBox="1"/>
          <p:nvPr/>
        </p:nvSpPr>
        <p:spPr>
          <a:xfrm>
            <a:off x="640080" y="3840480"/>
            <a:ext cx="8229600" cy="822960"/>
          </a:xfrm>
          <a:prstGeom prst="rect">
            <a:avLst/>
          </a:prstGeom>
          <a:noFill/>
          <a:ln/>
        </p:spPr>
        <p:txBody>
          <a:bodyPr wrap="square" lIns="0" tIns="0" rIns="0" bIns="0" rtlCol="0" anchor="t"/>
          <a:lstStyle/>
          <a:p>
            <a:pPr indent="0" marL="0">
              <a:buNone/>
            </a:pPr>
            <a:r>
              <a:rPr lang="en-US" sz="1800" dirty="0">
                <a:solidFill>
                  <a:srgbClr val="A3A3A3"/>
                </a:solidFill>
                <a:latin typeface="IBM Plex Sans" pitchFamily="34" charset="0"/>
                <a:ea typeface="IBM Plex Sans" pitchFamily="34" charset="-122"/>
                <a:cs typeface="IBM Plex Sans" pitchFamily="34" charset="-120"/>
              </a:rPr>
              <a:t>Four steps, about three minutes.</a:t>
            </a:r>
            <a:endParaRPr lang="en-US" sz="1800" dirty="0"/>
          </a:p>
        </p:txBody>
      </p:sp>
      <p:sp>
        <p:nvSpPr>
          <p:cNvPr id="5" name="Brand stripe 1"/>
          <p:cNvSpPr/>
          <p:nvPr/>
        </p:nvSpPr>
        <p:spPr>
          <a:xfrm>
            <a:off x="0" y="6766560"/>
            <a:ext cx="3047924" cy="91440"/>
          </a:xfrm>
          <a:prstGeom prst="rect">
            <a:avLst/>
          </a:prstGeom>
          <a:solidFill>
            <a:srgbClr val="F9C815"/>
          </a:solidFill>
          <a:ln w="12700">
            <a:solidFill>
              <a:srgbClr val="F9C815"/>
            </a:solidFill>
            <a:prstDash val="solid"/>
          </a:ln>
        </p:spPr>
      </p:sp>
      <p:sp>
        <p:nvSpPr>
          <p:cNvPr id="6" name="Brand stripe 2"/>
          <p:cNvSpPr/>
          <p:nvPr/>
        </p:nvSpPr>
        <p:spPr>
          <a:xfrm>
            <a:off x="3047924" y="6766560"/>
            <a:ext cx="3047924" cy="91440"/>
          </a:xfrm>
          <a:prstGeom prst="rect">
            <a:avLst/>
          </a:prstGeom>
          <a:solidFill>
            <a:srgbClr val="F07124"/>
          </a:solidFill>
          <a:ln w="12700">
            <a:solidFill>
              <a:srgbClr val="F07124"/>
            </a:solidFill>
            <a:prstDash val="solid"/>
          </a:ln>
        </p:spPr>
      </p:sp>
      <p:sp>
        <p:nvSpPr>
          <p:cNvPr id="7" name="Brand stripe 3"/>
          <p:cNvSpPr/>
          <p:nvPr/>
        </p:nvSpPr>
        <p:spPr>
          <a:xfrm>
            <a:off x="6095848" y="6766560"/>
            <a:ext cx="3047924" cy="91440"/>
          </a:xfrm>
          <a:prstGeom prst="rect">
            <a:avLst/>
          </a:prstGeom>
          <a:solidFill>
            <a:srgbClr val="ED0E78"/>
          </a:solidFill>
          <a:ln w="12700">
            <a:solidFill>
              <a:srgbClr val="ED0E78"/>
            </a:solidFill>
            <a:prstDash val="solid"/>
          </a:ln>
        </p:spPr>
      </p:sp>
      <p:sp>
        <p:nvSpPr>
          <p:cNvPr id="8" name="Brand stripe 4"/>
          <p:cNvSpPr/>
          <p:nvPr/>
        </p:nvSpPr>
        <p:spPr>
          <a:xfrm>
            <a:off x="9143771" y="6766560"/>
            <a:ext cx="3047924" cy="91440"/>
          </a:xfrm>
          <a:prstGeom prst="rect">
            <a:avLst/>
          </a:prstGeom>
          <a:solidFill>
            <a:srgbClr val="6640A2"/>
          </a:solidFill>
          <a:ln w="12700">
            <a:solidFill>
              <a:srgbClr val="6640A2"/>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SUBMITTING A REQUEST</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Open the request form</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Select Submit a request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1 OF 4</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Select Submit a request</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The button sits in the top bar on every page, so you can start from wherever you noticed the problem.</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SUBMITTING A REQUEST</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Start with a short title</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A sharp title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2 OF 4</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A sharp title</a:t>
            </a:r>
            <a:endParaRPr lang="en-US" sz="2200" dirty="0"/>
          </a:p>
        </p:txBody>
      </p:sp>
      <p:sp>
        <p:nvSpPr>
          <p:cNvPr id="8" name="Text 5"/>
          <p:cNvSpPr txBox="1"/>
          <p:nvPr/>
        </p:nvSpPr>
        <p:spPr>
          <a:xfrm>
            <a:off x="8275320" y="3063240"/>
            <a:ext cx="3276295" cy="15544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As you type, Pulse suggests existing ideas that look similar. If one fits, follow it instead of filing a duplicate.</a:t>
            </a:r>
            <a:endParaRPr lang="en-US" sz="1500" dirty="0"/>
          </a:p>
        </p:txBody>
      </p:sp>
      <p:sp>
        <p:nvSpPr>
          <p:cNvPr id="9" name="Tip"/>
          <p:cNvSpPr/>
          <p:nvPr/>
        </p:nvSpPr>
        <p:spPr>
          <a:xfrm>
            <a:off x="8275320" y="4709160"/>
            <a:ext cx="3276295" cy="1371600"/>
          </a:xfrm>
          <a:prstGeom prst="roundRect">
            <a:avLst>
              <a:gd name="adj" fmla="val 5333"/>
            </a:avLst>
          </a:prstGeom>
          <a:solidFill>
            <a:srgbClr val="F5F3FF"/>
          </a:solidFill>
          <a:ln w="12700">
            <a:solidFill>
              <a:srgbClr val="EDE9FE"/>
            </a:solidFill>
            <a:prstDash val="solid"/>
          </a:ln>
        </p:spPr>
      </p:sp>
      <p:sp>
        <p:nvSpPr>
          <p:cNvPr id="10" name="Text 7"/>
          <p:cNvSpPr txBox="1"/>
          <p:nvPr/>
        </p:nvSpPr>
        <p:spPr>
          <a:xfrm>
            <a:off x="8458200" y="4800600"/>
            <a:ext cx="2910535" cy="1188720"/>
          </a:xfrm>
          <a:prstGeom prst="rect">
            <a:avLst/>
          </a:prstGeom>
          <a:noFill/>
          <a:ln/>
        </p:spPr>
        <p:txBody>
          <a:bodyPr wrap="square" lIns="0" tIns="0" rIns="0" bIns="0" rtlCol="0" anchor="t"/>
          <a:lstStyle/>
          <a:p>
            <a:pPr indent="0" marL="0">
              <a:buNone/>
            </a:pPr>
            <a:r>
              <a:rPr lang="en-US" sz="1100" b="1" spc="200" kern="0" dirty="0">
                <a:solidFill>
                  <a:srgbClr val="7C3AED"/>
                </a:solidFill>
                <a:latin typeface="IBM Plex Sans" pitchFamily="34" charset="0"/>
                <a:ea typeface="IBM Plex Sans" pitchFamily="34" charset="-122"/>
                <a:cs typeface="IBM Plex Sans" pitchFamily="34" charset="-120"/>
              </a:rPr>
              <a:t>TIP  </a:t>
            </a:r>
            <a:pPr indent="0" marL="0">
              <a:buNone/>
            </a:pPr>
            <a:r>
              <a:rPr lang="en-US" sz="1400" dirty="0">
                <a:solidFill>
                  <a:srgbClr val="171717"/>
                </a:solidFill>
                <a:latin typeface="IBM Plex Sans" pitchFamily="34" charset="0"/>
                <a:ea typeface="IBM Plex Sans" pitchFamily="34" charset="-122"/>
                <a:cs typeface="IBM Plex Sans" pitchFamily="34" charset="-120"/>
              </a:rPr>
              <a:t>Name the outcome, not the solution: “Scheduled report delivery to SharePoint”.</a:t>
            </a:r>
            <a:endParaRPr lang="en-US" sz="11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SUBMITTING A REQUEST</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Describe the outcome</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What, who and why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3 OF 4</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What, who and why</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Explain what you are trying to achieve, who is affected, and what happens today. Impact and context help triage. Drafts save to your account and organization, and device copies expire after 24 hours.</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SUBMITTING A REQUEST</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Submit when ready</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Attach and send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4 OF 4</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Attach and send</a:t>
            </a:r>
            <a:endParaRPr lang="en-US" sz="2200" dirty="0"/>
          </a:p>
        </p:txBody>
      </p:sp>
      <p:sp>
        <p:nvSpPr>
          <p:cNvPr id="8" name="Text 5"/>
          <p:cNvSpPr txBox="1"/>
          <p:nvPr/>
        </p:nvSpPr>
        <p:spPr>
          <a:xfrm>
            <a:off x="8275320" y="3063240"/>
            <a:ext cx="3276295" cy="15544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Add screenshots or files up to 25 MB each. Attachments are scanned before anyone can download them. Choose who in your organization can see the request.</a:t>
            </a:r>
            <a:endParaRPr lang="en-US" sz="1500" dirty="0"/>
          </a:p>
        </p:txBody>
      </p:sp>
      <p:sp>
        <p:nvSpPr>
          <p:cNvPr id="9" name="Tip"/>
          <p:cNvSpPr/>
          <p:nvPr/>
        </p:nvSpPr>
        <p:spPr>
          <a:xfrm>
            <a:off x="8275320" y="4709160"/>
            <a:ext cx="3276295" cy="1371600"/>
          </a:xfrm>
          <a:prstGeom prst="roundRect">
            <a:avLst>
              <a:gd name="adj" fmla="val 5333"/>
            </a:avLst>
          </a:prstGeom>
          <a:solidFill>
            <a:srgbClr val="F5F3FF"/>
          </a:solidFill>
          <a:ln w="12700">
            <a:solidFill>
              <a:srgbClr val="EDE9FE"/>
            </a:solidFill>
            <a:prstDash val="solid"/>
          </a:ln>
        </p:spPr>
      </p:sp>
      <p:sp>
        <p:nvSpPr>
          <p:cNvPr id="10" name="Text 7"/>
          <p:cNvSpPr txBox="1"/>
          <p:nvPr/>
        </p:nvSpPr>
        <p:spPr>
          <a:xfrm>
            <a:off x="8458200" y="4800600"/>
            <a:ext cx="2910535" cy="1188720"/>
          </a:xfrm>
          <a:prstGeom prst="rect">
            <a:avLst/>
          </a:prstGeom>
          <a:noFill/>
          <a:ln/>
        </p:spPr>
        <p:txBody>
          <a:bodyPr wrap="square" lIns="0" tIns="0" rIns="0" bIns="0" rtlCol="0" anchor="t"/>
          <a:lstStyle/>
          <a:p>
            <a:pPr indent="0" marL="0">
              <a:buNone/>
            </a:pPr>
            <a:r>
              <a:rPr lang="en-US" sz="1100" b="1" spc="200" kern="0" dirty="0">
                <a:solidFill>
                  <a:srgbClr val="7C3AED"/>
                </a:solidFill>
                <a:latin typeface="IBM Plex Sans" pitchFamily="34" charset="0"/>
                <a:ea typeface="IBM Plex Sans" pitchFamily="34" charset="-122"/>
                <a:cs typeface="IBM Plex Sans" pitchFamily="34" charset="-120"/>
              </a:rPr>
              <a:t>TIP  </a:t>
            </a:r>
            <a:pPr indent="0" marL="0">
              <a:buNone/>
            </a:pPr>
            <a:r>
              <a:rPr lang="en-US" sz="1400" dirty="0">
                <a:solidFill>
                  <a:srgbClr val="171717"/>
                </a:solidFill>
                <a:latin typeface="IBM Plex Sans" pitchFamily="34" charset="0"/>
                <a:ea typeface="IBM Plex Sans" pitchFamily="34" charset="-122"/>
                <a:cs typeface="IBM Plex Sans" pitchFamily="34" charset="-120"/>
              </a:rPr>
              <a:t>Do not upload credentials, personal data or unredacted production data.</a:t>
            </a:r>
            <a:endParaRPr lang="en-US" sz="11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AFTER YOU SUBMIT</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What happens to your request</a:t>
            </a:r>
            <a:endParaRPr lang="en-US" sz="3200" dirty="0"/>
          </a:p>
        </p:txBody>
      </p:sp>
      <p:sp>
        <p:nvSpPr>
          <p:cNvPr id="4" name="Card"/>
          <p:cNvSpPr/>
          <p:nvPr/>
        </p:nvSpPr>
        <p:spPr>
          <a:xfrm>
            <a:off x="640080" y="2103120"/>
            <a:ext cx="2419274" cy="3108960"/>
          </a:xfrm>
          <a:prstGeom prst="roundRect">
            <a:avLst>
              <a:gd name="adj" fmla="val 30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5" name="Shape 3"/>
          <p:cNvSpPr/>
          <p:nvPr/>
        </p:nvSpPr>
        <p:spPr>
          <a:xfrm>
            <a:off x="914400" y="2377440"/>
            <a:ext cx="457200" cy="457200"/>
          </a:xfrm>
          <a:prstGeom prst="ellipse">
            <a:avLst/>
          </a:prstGeom>
          <a:solidFill>
            <a:srgbClr val="EDE9FE"/>
          </a:solidFill>
          <a:ln w="12700">
            <a:solidFill>
              <a:srgbClr val="EDE9FE"/>
            </a:solidFill>
            <a:prstDash val="solid"/>
          </a:ln>
        </p:spPr>
      </p:sp>
      <p:sp>
        <p:nvSpPr>
          <p:cNvPr id="6" name="Text 4"/>
          <p:cNvSpPr txBox="1"/>
          <p:nvPr/>
        </p:nvSpPr>
        <p:spPr>
          <a:xfrm>
            <a:off x="914400" y="237744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1</a:t>
            </a:r>
            <a:endParaRPr lang="en-US" sz="1400" dirty="0"/>
          </a:p>
        </p:txBody>
      </p:sp>
      <p:sp>
        <p:nvSpPr>
          <p:cNvPr id="7" name="Text 5"/>
          <p:cNvSpPr txBox="1"/>
          <p:nvPr/>
        </p:nvSpPr>
        <p:spPr>
          <a:xfrm>
            <a:off x="914400" y="2971800"/>
            <a:ext cx="187063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Received</a:t>
            </a:r>
            <a:endParaRPr lang="en-US" sz="1800" dirty="0"/>
          </a:p>
        </p:txBody>
      </p:sp>
      <p:sp>
        <p:nvSpPr>
          <p:cNvPr id="8" name="Text 6"/>
          <p:cNvSpPr txBox="1"/>
          <p:nvPr/>
        </p:nvSpPr>
        <p:spPr>
          <a:xfrm>
            <a:off x="914400" y="3703320"/>
            <a:ext cx="1870634" cy="128016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Your request appears in My requests with a DCI number.</a:t>
            </a:r>
            <a:endParaRPr lang="en-US" sz="1400" dirty="0"/>
          </a:p>
        </p:txBody>
      </p:sp>
      <p:sp>
        <p:nvSpPr>
          <p:cNvPr id="9" name="Text 7"/>
          <p:cNvSpPr txBox="1"/>
          <p:nvPr/>
        </p:nvSpPr>
        <p:spPr>
          <a:xfrm>
            <a:off x="3059354" y="3429000"/>
            <a:ext cx="411480" cy="457200"/>
          </a:xfrm>
          <a:prstGeom prst="rect">
            <a:avLst/>
          </a:prstGeom>
          <a:noFill/>
          <a:ln/>
        </p:spPr>
        <p:txBody>
          <a:bodyPr wrap="square" lIns="0" tIns="0" rIns="0" bIns="0" rtlCol="0" anchor="ctr"/>
          <a:lstStyle/>
          <a:p>
            <a:pPr algn="ctr" indent="0" marL="0">
              <a:buNone/>
            </a:pPr>
            <a:r>
              <a:rPr lang="en-US" sz="2000" dirty="0">
                <a:solidFill>
                  <a:srgbClr val="7C3AED"/>
                </a:solidFill>
                <a:latin typeface="IBM Plex Mono" pitchFamily="34" charset="0"/>
                <a:ea typeface="IBM Plex Mono" pitchFamily="34" charset="-122"/>
                <a:cs typeface="IBM Plex Mono" pitchFamily="34" charset="-120"/>
              </a:rPr>
              <a:t>→</a:t>
            </a:r>
            <a:endParaRPr lang="en-US" sz="2000" dirty="0"/>
          </a:p>
        </p:txBody>
      </p:sp>
      <p:sp>
        <p:nvSpPr>
          <p:cNvPr id="10" name="Card"/>
          <p:cNvSpPr/>
          <p:nvPr/>
        </p:nvSpPr>
        <p:spPr>
          <a:xfrm>
            <a:off x="3470834" y="2103120"/>
            <a:ext cx="2419274" cy="3108960"/>
          </a:xfrm>
          <a:prstGeom prst="roundRect">
            <a:avLst>
              <a:gd name="adj" fmla="val 30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1" name="Shape 9"/>
          <p:cNvSpPr/>
          <p:nvPr/>
        </p:nvSpPr>
        <p:spPr>
          <a:xfrm>
            <a:off x="3745154" y="2377440"/>
            <a:ext cx="457200" cy="457200"/>
          </a:xfrm>
          <a:prstGeom prst="ellipse">
            <a:avLst/>
          </a:prstGeom>
          <a:solidFill>
            <a:srgbClr val="EDE9FE"/>
          </a:solidFill>
          <a:ln w="12700">
            <a:solidFill>
              <a:srgbClr val="EDE9FE"/>
            </a:solidFill>
            <a:prstDash val="solid"/>
          </a:ln>
        </p:spPr>
      </p:sp>
      <p:sp>
        <p:nvSpPr>
          <p:cNvPr id="12" name="Text 10"/>
          <p:cNvSpPr txBox="1"/>
          <p:nvPr/>
        </p:nvSpPr>
        <p:spPr>
          <a:xfrm>
            <a:off x="3745154" y="237744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2</a:t>
            </a:r>
            <a:endParaRPr lang="en-US" sz="1400" dirty="0"/>
          </a:p>
        </p:txBody>
      </p:sp>
      <p:sp>
        <p:nvSpPr>
          <p:cNvPr id="13" name="Text 11"/>
          <p:cNvSpPr txBox="1"/>
          <p:nvPr/>
        </p:nvSpPr>
        <p:spPr>
          <a:xfrm>
            <a:off x="3745154" y="2971800"/>
            <a:ext cx="187063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In review</a:t>
            </a:r>
            <a:endParaRPr lang="en-US" sz="1800" dirty="0"/>
          </a:p>
        </p:txBody>
      </p:sp>
      <p:sp>
        <p:nvSpPr>
          <p:cNvPr id="14" name="Text 12"/>
          <p:cNvSpPr txBox="1"/>
          <p:nvPr/>
        </p:nvSpPr>
        <p:spPr>
          <a:xfrm>
            <a:off x="3745154" y="3703320"/>
            <a:ext cx="1870634" cy="128016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DataCentral triages it, may ask for information, or links it to an idea.</a:t>
            </a:r>
            <a:endParaRPr lang="en-US" sz="1400" dirty="0"/>
          </a:p>
        </p:txBody>
      </p:sp>
      <p:sp>
        <p:nvSpPr>
          <p:cNvPr id="15" name="Text 13"/>
          <p:cNvSpPr txBox="1"/>
          <p:nvPr/>
        </p:nvSpPr>
        <p:spPr>
          <a:xfrm>
            <a:off x="5890108" y="3429000"/>
            <a:ext cx="411480" cy="457200"/>
          </a:xfrm>
          <a:prstGeom prst="rect">
            <a:avLst/>
          </a:prstGeom>
          <a:noFill/>
          <a:ln/>
        </p:spPr>
        <p:txBody>
          <a:bodyPr wrap="square" lIns="0" tIns="0" rIns="0" bIns="0" rtlCol="0" anchor="ctr"/>
          <a:lstStyle/>
          <a:p>
            <a:pPr algn="ctr" indent="0" marL="0">
              <a:buNone/>
            </a:pPr>
            <a:r>
              <a:rPr lang="en-US" sz="2000" dirty="0">
                <a:solidFill>
                  <a:srgbClr val="7C3AED"/>
                </a:solidFill>
                <a:latin typeface="IBM Plex Mono" pitchFamily="34" charset="0"/>
                <a:ea typeface="IBM Plex Mono" pitchFamily="34" charset="-122"/>
                <a:cs typeface="IBM Plex Mono" pitchFamily="34" charset="-120"/>
              </a:rPr>
              <a:t>→</a:t>
            </a:r>
            <a:endParaRPr lang="en-US" sz="2000" dirty="0"/>
          </a:p>
        </p:txBody>
      </p:sp>
      <p:sp>
        <p:nvSpPr>
          <p:cNvPr id="16" name="Card"/>
          <p:cNvSpPr/>
          <p:nvPr/>
        </p:nvSpPr>
        <p:spPr>
          <a:xfrm>
            <a:off x="6301588" y="2103120"/>
            <a:ext cx="2419274" cy="3108960"/>
          </a:xfrm>
          <a:prstGeom prst="roundRect">
            <a:avLst>
              <a:gd name="adj" fmla="val 30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7" name="Shape 15"/>
          <p:cNvSpPr/>
          <p:nvPr/>
        </p:nvSpPr>
        <p:spPr>
          <a:xfrm>
            <a:off x="6575908" y="2377440"/>
            <a:ext cx="457200" cy="457200"/>
          </a:xfrm>
          <a:prstGeom prst="ellipse">
            <a:avLst/>
          </a:prstGeom>
          <a:solidFill>
            <a:srgbClr val="EDE9FE"/>
          </a:solidFill>
          <a:ln w="12700">
            <a:solidFill>
              <a:srgbClr val="EDE9FE"/>
            </a:solidFill>
            <a:prstDash val="solid"/>
          </a:ln>
        </p:spPr>
      </p:sp>
      <p:sp>
        <p:nvSpPr>
          <p:cNvPr id="18" name="Text 16"/>
          <p:cNvSpPr txBox="1"/>
          <p:nvPr/>
        </p:nvSpPr>
        <p:spPr>
          <a:xfrm>
            <a:off x="6575908" y="237744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3</a:t>
            </a:r>
            <a:endParaRPr lang="en-US" sz="1400" dirty="0"/>
          </a:p>
        </p:txBody>
      </p:sp>
      <p:sp>
        <p:nvSpPr>
          <p:cNvPr id="19" name="Text 17"/>
          <p:cNvSpPr txBox="1"/>
          <p:nvPr/>
        </p:nvSpPr>
        <p:spPr>
          <a:xfrm>
            <a:off x="6575908" y="2971800"/>
            <a:ext cx="187063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Planned</a:t>
            </a:r>
            <a:endParaRPr lang="en-US" sz="1800" dirty="0"/>
          </a:p>
        </p:txBody>
      </p:sp>
      <p:sp>
        <p:nvSpPr>
          <p:cNvPr id="20" name="Text 18"/>
          <p:cNvSpPr txBox="1"/>
          <p:nvPr/>
        </p:nvSpPr>
        <p:spPr>
          <a:xfrm>
            <a:off x="6575908" y="3703320"/>
            <a:ext cx="1870634" cy="128016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The idea is scored and appears on the roadmap.</a:t>
            </a:r>
            <a:endParaRPr lang="en-US" sz="1400" dirty="0"/>
          </a:p>
        </p:txBody>
      </p:sp>
      <p:sp>
        <p:nvSpPr>
          <p:cNvPr id="21" name="Text 19"/>
          <p:cNvSpPr txBox="1"/>
          <p:nvPr/>
        </p:nvSpPr>
        <p:spPr>
          <a:xfrm>
            <a:off x="8720861" y="3429000"/>
            <a:ext cx="411480" cy="457200"/>
          </a:xfrm>
          <a:prstGeom prst="rect">
            <a:avLst/>
          </a:prstGeom>
          <a:noFill/>
          <a:ln/>
        </p:spPr>
        <p:txBody>
          <a:bodyPr wrap="square" lIns="0" tIns="0" rIns="0" bIns="0" rtlCol="0" anchor="ctr"/>
          <a:lstStyle/>
          <a:p>
            <a:pPr algn="ctr" indent="0" marL="0">
              <a:buNone/>
            </a:pPr>
            <a:r>
              <a:rPr lang="en-US" sz="2000" dirty="0">
                <a:solidFill>
                  <a:srgbClr val="7C3AED"/>
                </a:solidFill>
                <a:latin typeface="IBM Plex Mono" pitchFamily="34" charset="0"/>
                <a:ea typeface="IBM Plex Mono" pitchFamily="34" charset="-122"/>
                <a:cs typeface="IBM Plex Mono" pitchFamily="34" charset="-120"/>
              </a:rPr>
              <a:t>→</a:t>
            </a:r>
            <a:endParaRPr lang="en-US" sz="2000" dirty="0"/>
          </a:p>
        </p:txBody>
      </p:sp>
      <p:sp>
        <p:nvSpPr>
          <p:cNvPr id="22" name="Card"/>
          <p:cNvSpPr/>
          <p:nvPr/>
        </p:nvSpPr>
        <p:spPr>
          <a:xfrm>
            <a:off x="9132341" y="2103120"/>
            <a:ext cx="2419274" cy="3108960"/>
          </a:xfrm>
          <a:prstGeom prst="roundRect">
            <a:avLst>
              <a:gd name="adj" fmla="val 30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23" name="Shape 21"/>
          <p:cNvSpPr/>
          <p:nvPr/>
        </p:nvSpPr>
        <p:spPr>
          <a:xfrm>
            <a:off x="9406661" y="2377440"/>
            <a:ext cx="457200" cy="457200"/>
          </a:xfrm>
          <a:prstGeom prst="ellipse">
            <a:avLst/>
          </a:prstGeom>
          <a:solidFill>
            <a:srgbClr val="EDE9FE"/>
          </a:solidFill>
          <a:ln w="12700">
            <a:solidFill>
              <a:srgbClr val="EDE9FE"/>
            </a:solidFill>
            <a:prstDash val="solid"/>
          </a:ln>
        </p:spPr>
      </p:sp>
      <p:sp>
        <p:nvSpPr>
          <p:cNvPr id="24" name="Text 22"/>
          <p:cNvSpPr txBox="1"/>
          <p:nvPr/>
        </p:nvSpPr>
        <p:spPr>
          <a:xfrm>
            <a:off x="9406661" y="237744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4</a:t>
            </a:r>
            <a:endParaRPr lang="en-US" sz="1400" dirty="0"/>
          </a:p>
        </p:txBody>
      </p:sp>
      <p:sp>
        <p:nvSpPr>
          <p:cNvPr id="25" name="Text 23"/>
          <p:cNvSpPr txBox="1"/>
          <p:nvPr/>
        </p:nvSpPr>
        <p:spPr>
          <a:xfrm>
            <a:off x="9406661" y="2971800"/>
            <a:ext cx="187063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Released</a:t>
            </a:r>
            <a:endParaRPr lang="en-US" sz="1800" dirty="0"/>
          </a:p>
        </p:txBody>
      </p:sp>
      <p:sp>
        <p:nvSpPr>
          <p:cNvPr id="26" name="Text 24"/>
          <p:cNvSpPr txBox="1"/>
          <p:nvPr/>
        </p:nvSpPr>
        <p:spPr>
          <a:xfrm>
            <a:off x="9406661" y="3703320"/>
            <a:ext cx="1870634" cy="128016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Release notes and an availability date are attached, and you are notified.</a:t>
            </a:r>
            <a:endParaRPr lang="en-US" sz="14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Notifications</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Know when something changes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7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Know when something changes</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Status changes and responses land here. Choose which events reach you by email in your notification preferences.</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The assistant</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Ask in plain language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STEP 8 OF 9</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Ask in plain language</a:t>
            </a:r>
            <a:endParaRPr lang="en-US" sz="2200" dirty="0"/>
          </a:p>
        </p:txBody>
      </p:sp>
      <p:sp>
        <p:nvSpPr>
          <p:cNvPr id="8" name="Text 5"/>
          <p:cNvSpPr txBox="1"/>
          <p:nvPr/>
        </p:nvSpPr>
        <p:spPr>
          <a:xfrm>
            <a:off x="8275320" y="3063240"/>
            <a:ext cx="3276295" cy="24688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When the assistant is enabled for you, ask it to find similar ideas, summarize your open requests or draft a new request. It can only see what you can see.</a:t>
            </a:r>
            <a:endParaRPr lang="en-US" sz="15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TOUR: WELCOME</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Help and tours</a:t>
            </a:r>
            <a:endParaRPr lang="en-US" sz="3200" dirty="0"/>
          </a:p>
        </p:txBody>
      </p:sp>
      <p:sp>
        <p:nvSpPr>
          <p:cNvPr id="4" name="Screenshot frame"/>
          <p:cNvSpPr/>
          <p:nvPr/>
        </p:nvSpPr>
        <p:spPr>
          <a:xfrm>
            <a:off x="603504" y="1792224"/>
            <a:ext cx="7296912" cy="4588002"/>
          </a:xfrm>
          <a:prstGeom prst="roundRect">
            <a:avLst>
              <a:gd name="adj" fmla="val 1196"/>
            </a:avLst>
          </a:prstGeom>
          <a:solidFill>
            <a:srgbClr val="FFFFFF"/>
          </a:solidFill>
          <a:ln w="12700">
            <a:solidFill>
              <a:srgbClr val="E5E5E5"/>
            </a:solidFill>
            <a:prstDash val="solid"/>
          </a:ln>
        </p:spPr>
      </p:sp>
      <p:pic>
        <p:nvPicPr>
          <p:cNvPr id="5" name="Image 0" descr="The ? button — Pulse screenshot">    </p:cNvPr>
          <p:cNvPicPr>
            <a:picLocks noChangeAspect="1"/>
          </p:cNvPicPr>
          <p:nvPr/>
        </p:nvPicPr>
        <p:blipFill>
          <a:blip r:embed="rId1"/>
          <a:stretch>
            <a:fillRect/>
          </a:stretch>
        </p:blipFill>
        <p:spPr>
          <a:xfrm>
            <a:off x="640080" y="1828800"/>
            <a:ext cx="7223760" cy="4514850"/>
          </a:xfrm>
          <a:prstGeom prst="rect">
            <a:avLst/>
          </a:prstGeom>
        </p:spPr>
      </p:pic>
      <p:sp>
        <p:nvSpPr>
          <p:cNvPr id="6" name="Text 3"/>
          <p:cNvSpPr txBox="1"/>
          <p:nvPr/>
        </p:nvSpPr>
        <p:spPr>
          <a:xfrm>
            <a:off x="8275320" y="1828800"/>
            <a:ext cx="3276295" cy="274320"/>
          </a:xfrm>
          <a:prstGeom prst="rect">
            <a:avLst/>
          </a:prstGeom>
          <a:noFill/>
          <a:ln/>
        </p:spPr>
        <p:txBody>
          <a:bodyPr wrap="square" lIns="0" tIns="0" rIns="0" bIns="0" rtlCol="0" anchor="ctr"/>
          <a:lstStyle/>
          <a:p>
            <a:pPr indent="0" marL="0">
              <a:buNone/>
            </a:pPr>
            <a:r>
              <a:rPr lang="en-US" sz="1200" b="1" dirty="0">
                <a:solidFill>
                  <a:srgbClr val="7C3AED"/>
                </a:solidFill>
                <a:latin typeface="IBM Plex Mono" pitchFamily="34" charset="0"/>
                <a:ea typeface="IBM Plex Mono" pitchFamily="34" charset="-122"/>
                <a:cs typeface="IBM Plex Mono" pitchFamily="34" charset="-120"/>
              </a:rPr>
              <a:t>ALWAYS AVAILABLE</a:t>
            </a:r>
            <a:endParaRPr lang="en-US" sz="1200" dirty="0"/>
          </a:p>
        </p:txBody>
      </p:sp>
      <p:sp>
        <p:nvSpPr>
          <p:cNvPr id="7" name="Text 4"/>
          <p:cNvSpPr txBox="1"/>
          <p:nvPr/>
        </p:nvSpPr>
        <p:spPr>
          <a:xfrm>
            <a:off x="8275320" y="2194560"/>
            <a:ext cx="3276295" cy="822960"/>
          </a:xfrm>
          <a:prstGeom prst="rect">
            <a:avLst/>
          </a:prstGeom>
          <a:noFill/>
          <a:ln/>
        </p:spPr>
        <p:txBody>
          <a:bodyPr wrap="square" lIns="0" tIns="0" rIns="0" bIns="0" rtlCol="0" anchor="t"/>
          <a:lstStyle/>
          <a:p>
            <a:pPr indent="0" marL="0">
              <a:buNone/>
            </a:pPr>
            <a:r>
              <a:rPr lang="en-US" sz="2200" b="1" dirty="0">
                <a:solidFill>
                  <a:srgbClr val="171717"/>
                </a:solidFill>
                <a:latin typeface="Space Grotesk" pitchFamily="34" charset="0"/>
                <a:ea typeface="Space Grotesk" pitchFamily="34" charset="-122"/>
                <a:cs typeface="Space Grotesk" pitchFamily="34" charset="-120"/>
              </a:rPr>
              <a:t>The ? button</a:t>
            </a:r>
            <a:endParaRPr lang="en-US" sz="2200" dirty="0"/>
          </a:p>
        </p:txBody>
      </p:sp>
      <p:sp>
        <p:nvSpPr>
          <p:cNvPr id="8" name="Text 5"/>
          <p:cNvSpPr txBox="1"/>
          <p:nvPr/>
        </p:nvSpPr>
        <p:spPr>
          <a:xfrm>
            <a:off x="8275320" y="3063240"/>
            <a:ext cx="3276295" cy="1554480"/>
          </a:xfrm>
          <a:prstGeom prst="rect">
            <a:avLst/>
          </a:prstGeom>
          <a:noFill/>
          <a:ln/>
        </p:spPr>
        <p:txBody>
          <a:bodyPr wrap="square" lIns="0" tIns="0" rIns="0" bIns="0" rtlCol="0" anchor="t"/>
          <a:lstStyle/>
          <a:p>
            <a:pPr indent="0" marL="0">
              <a:buNone/>
            </a:pPr>
            <a:r>
              <a:rPr lang="en-US" sz="1500" dirty="0">
                <a:solidFill>
                  <a:srgbClr val="404040"/>
                </a:solidFill>
                <a:latin typeface="IBM Plex Sans" pitchFamily="34" charset="0"/>
                <a:ea typeface="IBM Plex Sans" pitchFamily="34" charset="-122"/>
                <a:cs typeface="IBM Plex Sans" pitchFamily="34" charset="-120"/>
              </a:rPr>
              <a:t>Replay any tour or open the full help pages from the ? button at the bottom right. Help is available in English and Icelandic.</a:t>
            </a:r>
            <a:endParaRPr lang="en-US" sz="1500" dirty="0"/>
          </a:p>
        </p:txBody>
      </p:sp>
      <p:sp>
        <p:nvSpPr>
          <p:cNvPr id="9" name="Tip"/>
          <p:cNvSpPr/>
          <p:nvPr/>
        </p:nvSpPr>
        <p:spPr>
          <a:xfrm>
            <a:off x="8275320" y="4709160"/>
            <a:ext cx="3276295" cy="1371600"/>
          </a:xfrm>
          <a:prstGeom prst="roundRect">
            <a:avLst>
              <a:gd name="adj" fmla="val 5333"/>
            </a:avLst>
          </a:prstGeom>
          <a:solidFill>
            <a:srgbClr val="F5F3FF"/>
          </a:solidFill>
          <a:ln w="12700">
            <a:solidFill>
              <a:srgbClr val="EDE9FE"/>
            </a:solidFill>
            <a:prstDash val="solid"/>
          </a:ln>
        </p:spPr>
      </p:sp>
      <p:sp>
        <p:nvSpPr>
          <p:cNvPr id="10" name="Text 7"/>
          <p:cNvSpPr txBox="1"/>
          <p:nvPr/>
        </p:nvSpPr>
        <p:spPr>
          <a:xfrm>
            <a:off x="8458200" y="4800600"/>
            <a:ext cx="2910535" cy="1188720"/>
          </a:xfrm>
          <a:prstGeom prst="rect">
            <a:avLst/>
          </a:prstGeom>
          <a:noFill/>
          <a:ln/>
        </p:spPr>
        <p:txBody>
          <a:bodyPr wrap="square" lIns="0" tIns="0" rIns="0" bIns="0" rtlCol="0" anchor="t"/>
          <a:lstStyle/>
          <a:p>
            <a:pPr indent="0" marL="0">
              <a:buNone/>
            </a:pPr>
            <a:r>
              <a:rPr lang="en-US" sz="1100" b="1" spc="200" kern="0" dirty="0">
                <a:solidFill>
                  <a:srgbClr val="7C3AED"/>
                </a:solidFill>
                <a:latin typeface="IBM Plex Sans" pitchFamily="34" charset="0"/>
                <a:ea typeface="IBM Plex Sans" pitchFamily="34" charset="-122"/>
                <a:cs typeface="IBM Plex Sans" pitchFamily="34" charset="-120"/>
              </a:rPr>
              <a:t>TIP  </a:t>
            </a:r>
            <a:pPr indent="0" marL="0">
              <a:buNone/>
            </a:pPr>
            <a:r>
              <a:rPr lang="en-US" sz="1400" dirty="0">
                <a:solidFill>
                  <a:srgbClr val="171717"/>
                </a:solidFill>
                <a:latin typeface="IBM Plex Sans" pitchFamily="34" charset="0"/>
                <a:ea typeface="IBM Plex Sans" pitchFamily="34" charset="-122"/>
                <a:cs typeface="IBM Plex Sans" pitchFamily="34" charset="-120"/>
              </a:rPr>
              <a:t>Use Hide tours forever if you prefer a clean screen. You can restore them later.</a:t>
            </a:r>
            <a:endParaRPr lang="en-US" sz="11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ROLES</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What you can do depends on your role</a:t>
            </a:r>
            <a:endParaRPr lang="en-US" sz="3200" dirty="0"/>
          </a:p>
        </p:txBody>
      </p:sp>
      <p:sp>
        <p:nvSpPr>
          <p:cNvPr id="4" name="Card"/>
          <p:cNvSpPr/>
          <p:nvPr/>
        </p:nvSpPr>
        <p:spPr>
          <a:xfrm>
            <a:off x="640080" y="1965960"/>
            <a:ext cx="3454298" cy="3017520"/>
          </a:xfrm>
          <a:prstGeom prst="roundRect">
            <a:avLst>
              <a:gd name="adj" fmla="val 24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5" name="Text 3"/>
          <p:cNvSpPr txBox="1"/>
          <p:nvPr/>
        </p:nvSpPr>
        <p:spPr>
          <a:xfrm>
            <a:off x="914400"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Viewer</a:t>
            </a:r>
            <a:endParaRPr lang="en-US" sz="1800" dirty="0"/>
          </a:p>
        </p:txBody>
      </p:sp>
      <p:sp>
        <p:nvSpPr>
          <p:cNvPr id="6" name="Text 4"/>
          <p:cNvSpPr txBox="1"/>
          <p:nvPr/>
        </p:nvSpPr>
        <p:spPr>
          <a:xfrm>
            <a:off x="914400" y="2971800"/>
            <a:ext cx="2905658" cy="17830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Browse ideas and the roadmap, and read your organization's requests.</a:t>
            </a:r>
            <a:endParaRPr lang="en-US" sz="1400" dirty="0"/>
          </a:p>
        </p:txBody>
      </p:sp>
      <p:sp>
        <p:nvSpPr>
          <p:cNvPr id="7" name="Card"/>
          <p:cNvSpPr/>
          <p:nvPr/>
        </p:nvSpPr>
        <p:spPr>
          <a:xfrm>
            <a:off x="4368698" y="1965960"/>
            <a:ext cx="3454298" cy="3017520"/>
          </a:xfrm>
          <a:prstGeom prst="roundRect">
            <a:avLst>
              <a:gd name="adj" fmla="val 24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8" name="Text 6"/>
          <p:cNvSpPr txBox="1"/>
          <p:nvPr/>
        </p:nvSpPr>
        <p:spPr>
          <a:xfrm>
            <a:off x="4643018"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Requester</a:t>
            </a:r>
            <a:endParaRPr lang="en-US" sz="1800" dirty="0"/>
          </a:p>
        </p:txBody>
      </p:sp>
      <p:sp>
        <p:nvSpPr>
          <p:cNvPr id="9" name="Text 7"/>
          <p:cNvSpPr txBox="1"/>
          <p:nvPr/>
        </p:nvSpPr>
        <p:spPr>
          <a:xfrm>
            <a:off x="4643018" y="2971800"/>
            <a:ext cx="2905658" cy="17830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Everything a Viewer can do, plus submit requests and comment on them.</a:t>
            </a:r>
            <a:endParaRPr lang="en-US" sz="1400" dirty="0"/>
          </a:p>
        </p:txBody>
      </p:sp>
      <p:sp>
        <p:nvSpPr>
          <p:cNvPr id="10" name="Card"/>
          <p:cNvSpPr/>
          <p:nvPr/>
        </p:nvSpPr>
        <p:spPr>
          <a:xfrm>
            <a:off x="8097317" y="1965960"/>
            <a:ext cx="3454298" cy="3017520"/>
          </a:xfrm>
          <a:prstGeom prst="roundRect">
            <a:avLst>
              <a:gd name="adj" fmla="val 2424"/>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1" name="Text 9"/>
          <p:cNvSpPr txBox="1"/>
          <p:nvPr/>
        </p:nvSpPr>
        <p:spPr>
          <a:xfrm>
            <a:off x="8371637" y="2240280"/>
            <a:ext cx="2905658"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Company admin</a:t>
            </a:r>
            <a:endParaRPr lang="en-US" sz="1800" dirty="0"/>
          </a:p>
        </p:txBody>
      </p:sp>
      <p:sp>
        <p:nvSpPr>
          <p:cNvPr id="12" name="Text 10"/>
          <p:cNvSpPr txBox="1"/>
          <p:nvPr/>
        </p:nvSpPr>
        <p:spPr>
          <a:xfrm>
            <a:off x="8371637" y="2971800"/>
            <a:ext cx="2905658" cy="178308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Everything a Requester can do, plus manage your company's people and contacts.</a:t>
            </a:r>
            <a:endParaRPr lang="en-US" sz="1400" dirty="0"/>
          </a:p>
        </p:txBody>
      </p:sp>
      <p:sp>
        <p:nvSpPr>
          <p:cNvPr id="13" name="Text 11"/>
          <p:cNvSpPr txBox="1"/>
          <p:nvPr/>
        </p:nvSpPr>
        <p:spPr>
          <a:xfrm>
            <a:off x="640080" y="5212080"/>
            <a:ext cx="10911535" cy="548640"/>
          </a:xfrm>
          <a:prstGeom prst="rect">
            <a:avLst/>
          </a:prstGeom>
          <a:noFill/>
          <a:ln/>
        </p:spPr>
        <p:txBody>
          <a:bodyPr wrap="square" lIns="0" tIns="0" rIns="0" bIns="0" rtlCol="0" anchor="t"/>
          <a:lstStyle/>
          <a:p>
            <a:pPr indent="0" marL="0">
              <a:buNone/>
            </a:pPr>
            <a:r>
              <a:rPr lang="en-US" sz="1600" dirty="0">
                <a:solidFill>
                  <a:srgbClr val="404040"/>
                </a:solidFill>
                <a:latin typeface="IBM Plex Sans" pitchFamily="34" charset="0"/>
                <a:ea typeface="IBM Plex Sans" pitchFamily="34" charset="-122"/>
                <a:cs typeface="IBM Plex Sans" pitchFamily="34" charset="-120"/>
              </a:rPr>
              <a:t>The same person can hold a different role at each company they belong to.</a:t>
            </a:r>
            <a:endParaRPr lang="en-US" sz="16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640080" y="457200"/>
            <a:ext cx="9144000"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IBM Plex Sans" pitchFamily="34" charset="0"/>
                <a:ea typeface="IBM Plex Sans" pitchFamily="34" charset="-122"/>
                <a:cs typeface="IBM Plex Sans" pitchFamily="34" charset="-120"/>
              </a:rPr>
              <a:t>GOOD REQUESTS</a:t>
            </a:r>
            <a:endParaRPr lang="en-US" sz="1200" dirty="0"/>
          </a:p>
        </p:txBody>
      </p:sp>
      <p:sp>
        <p:nvSpPr>
          <p:cNvPr id="3" name="Title"/>
          <p:cNvSpPr txBox="1"/>
          <p:nvPr/>
        </p:nvSpPr>
        <p:spPr>
          <a:xfrm>
            <a:off x="640080" y="777240"/>
            <a:ext cx="10911535" cy="868680"/>
          </a:xfrm>
          <a:prstGeom prst="rect">
            <a:avLst/>
          </a:prstGeom>
          <a:noFill/>
          <a:ln/>
        </p:spPr>
        <p:txBody>
          <a:bodyPr wrap="square" lIns="0" tIns="0" rIns="0" bIns="0" rtlCol="0" anchor="t"/>
          <a:lstStyle/>
          <a:p>
            <a:pPr indent="0" marL="0">
              <a:buNone/>
            </a:pPr>
            <a:r>
              <a:rPr lang="en-US" sz="3200" b="1" dirty="0">
                <a:solidFill>
                  <a:srgbClr val="171717"/>
                </a:solidFill>
                <a:latin typeface="Space Grotesk" pitchFamily="34" charset="0"/>
                <a:ea typeface="Space Grotesk" pitchFamily="34" charset="-122"/>
                <a:cs typeface="Space Grotesk" pitchFamily="34" charset="-120"/>
              </a:rPr>
              <a:t>Four habits that get requests moved faster</a:t>
            </a:r>
            <a:endParaRPr lang="en-US" sz="3200" dirty="0"/>
          </a:p>
        </p:txBody>
      </p:sp>
      <p:sp>
        <p:nvSpPr>
          <p:cNvPr id="4" name="Card"/>
          <p:cNvSpPr/>
          <p:nvPr/>
        </p:nvSpPr>
        <p:spPr>
          <a:xfrm>
            <a:off x="640080" y="1965960"/>
            <a:ext cx="2522144" cy="3291840"/>
          </a:xfrm>
          <a:prstGeom prst="roundRect">
            <a:avLst>
              <a:gd name="adj" fmla="val 29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5" name="Shape 3"/>
          <p:cNvSpPr/>
          <p:nvPr/>
        </p:nvSpPr>
        <p:spPr>
          <a:xfrm>
            <a:off x="914400" y="2240280"/>
            <a:ext cx="457200" cy="457200"/>
          </a:xfrm>
          <a:prstGeom prst="ellipse">
            <a:avLst/>
          </a:prstGeom>
          <a:solidFill>
            <a:srgbClr val="EDE9FE"/>
          </a:solidFill>
          <a:ln w="12700">
            <a:solidFill>
              <a:srgbClr val="EDE9FE"/>
            </a:solidFill>
            <a:prstDash val="solid"/>
          </a:ln>
        </p:spPr>
      </p:sp>
      <p:sp>
        <p:nvSpPr>
          <p:cNvPr id="6" name="Text 4"/>
          <p:cNvSpPr txBox="1"/>
          <p:nvPr/>
        </p:nvSpPr>
        <p:spPr>
          <a:xfrm>
            <a:off x="914400"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1</a:t>
            </a:r>
            <a:endParaRPr lang="en-US" sz="1400" dirty="0"/>
          </a:p>
        </p:txBody>
      </p:sp>
      <p:sp>
        <p:nvSpPr>
          <p:cNvPr id="7" name="Text 5"/>
          <p:cNvSpPr txBox="1"/>
          <p:nvPr/>
        </p:nvSpPr>
        <p:spPr>
          <a:xfrm>
            <a:off x="914400" y="2834640"/>
            <a:ext cx="197350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Search first</a:t>
            </a:r>
            <a:endParaRPr lang="en-US" sz="1800" dirty="0"/>
          </a:p>
        </p:txBody>
      </p:sp>
      <p:sp>
        <p:nvSpPr>
          <p:cNvPr id="8" name="Text 6"/>
          <p:cNvSpPr txBox="1"/>
          <p:nvPr/>
        </p:nvSpPr>
        <p:spPr>
          <a:xfrm>
            <a:off x="914400" y="3566160"/>
            <a:ext cx="1973504" cy="146304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Following an existing idea adds weight without adding noise.</a:t>
            </a:r>
            <a:endParaRPr lang="en-US" sz="1400" dirty="0"/>
          </a:p>
        </p:txBody>
      </p:sp>
      <p:sp>
        <p:nvSpPr>
          <p:cNvPr id="9" name="Card"/>
          <p:cNvSpPr/>
          <p:nvPr/>
        </p:nvSpPr>
        <p:spPr>
          <a:xfrm>
            <a:off x="3436544" y="1965960"/>
            <a:ext cx="2522144" cy="3291840"/>
          </a:xfrm>
          <a:prstGeom prst="roundRect">
            <a:avLst>
              <a:gd name="adj" fmla="val 29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0" name="Shape 8"/>
          <p:cNvSpPr/>
          <p:nvPr/>
        </p:nvSpPr>
        <p:spPr>
          <a:xfrm>
            <a:off x="3710864" y="2240280"/>
            <a:ext cx="457200" cy="457200"/>
          </a:xfrm>
          <a:prstGeom prst="ellipse">
            <a:avLst/>
          </a:prstGeom>
          <a:solidFill>
            <a:srgbClr val="EDE9FE"/>
          </a:solidFill>
          <a:ln w="12700">
            <a:solidFill>
              <a:srgbClr val="EDE9FE"/>
            </a:solidFill>
            <a:prstDash val="solid"/>
          </a:ln>
        </p:spPr>
      </p:sp>
      <p:sp>
        <p:nvSpPr>
          <p:cNvPr id="11" name="Text 9"/>
          <p:cNvSpPr txBox="1"/>
          <p:nvPr/>
        </p:nvSpPr>
        <p:spPr>
          <a:xfrm>
            <a:off x="3710864"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2</a:t>
            </a:r>
            <a:endParaRPr lang="en-US" sz="1400" dirty="0"/>
          </a:p>
        </p:txBody>
      </p:sp>
      <p:sp>
        <p:nvSpPr>
          <p:cNvPr id="12" name="Text 10"/>
          <p:cNvSpPr txBox="1"/>
          <p:nvPr/>
        </p:nvSpPr>
        <p:spPr>
          <a:xfrm>
            <a:off x="3710864" y="2834640"/>
            <a:ext cx="197350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State the outcome</a:t>
            </a:r>
            <a:endParaRPr lang="en-US" sz="1800" dirty="0"/>
          </a:p>
        </p:txBody>
      </p:sp>
      <p:sp>
        <p:nvSpPr>
          <p:cNvPr id="13" name="Text 11"/>
          <p:cNvSpPr txBox="1"/>
          <p:nvPr/>
        </p:nvSpPr>
        <p:spPr>
          <a:xfrm>
            <a:off x="3710864" y="3566160"/>
            <a:ext cx="1973504" cy="146304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Describe the goal and who it affects, not the feature you imagine.</a:t>
            </a:r>
            <a:endParaRPr lang="en-US" sz="1400" dirty="0"/>
          </a:p>
        </p:txBody>
      </p:sp>
      <p:sp>
        <p:nvSpPr>
          <p:cNvPr id="14" name="Card"/>
          <p:cNvSpPr/>
          <p:nvPr/>
        </p:nvSpPr>
        <p:spPr>
          <a:xfrm>
            <a:off x="6233008" y="1965960"/>
            <a:ext cx="2522144" cy="3291840"/>
          </a:xfrm>
          <a:prstGeom prst="roundRect">
            <a:avLst>
              <a:gd name="adj" fmla="val 29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15" name="Shape 13"/>
          <p:cNvSpPr/>
          <p:nvPr/>
        </p:nvSpPr>
        <p:spPr>
          <a:xfrm>
            <a:off x="6507328" y="2240280"/>
            <a:ext cx="457200" cy="457200"/>
          </a:xfrm>
          <a:prstGeom prst="ellipse">
            <a:avLst/>
          </a:prstGeom>
          <a:solidFill>
            <a:srgbClr val="EDE9FE"/>
          </a:solidFill>
          <a:ln w="12700">
            <a:solidFill>
              <a:srgbClr val="EDE9FE"/>
            </a:solidFill>
            <a:prstDash val="solid"/>
          </a:ln>
        </p:spPr>
      </p:sp>
      <p:sp>
        <p:nvSpPr>
          <p:cNvPr id="16" name="Text 14"/>
          <p:cNvSpPr txBox="1"/>
          <p:nvPr/>
        </p:nvSpPr>
        <p:spPr>
          <a:xfrm>
            <a:off x="6507328"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3</a:t>
            </a:r>
            <a:endParaRPr lang="en-US" sz="1400" dirty="0"/>
          </a:p>
        </p:txBody>
      </p:sp>
      <p:sp>
        <p:nvSpPr>
          <p:cNvPr id="17" name="Text 15"/>
          <p:cNvSpPr txBox="1"/>
          <p:nvPr/>
        </p:nvSpPr>
        <p:spPr>
          <a:xfrm>
            <a:off x="6507328" y="2834640"/>
            <a:ext cx="197350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Give the impact</a:t>
            </a:r>
            <a:endParaRPr lang="en-US" sz="1800" dirty="0"/>
          </a:p>
        </p:txBody>
      </p:sp>
      <p:sp>
        <p:nvSpPr>
          <p:cNvPr id="18" name="Text 16"/>
          <p:cNvSpPr txBox="1"/>
          <p:nvPr/>
        </p:nvSpPr>
        <p:spPr>
          <a:xfrm>
            <a:off x="6507328" y="3566160"/>
            <a:ext cx="1973504" cy="146304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Frequency, severity and the workaround you use today.</a:t>
            </a:r>
            <a:endParaRPr lang="en-US" sz="1400" dirty="0"/>
          </a:p>
        </p:txBody>
      </p:sp>
      <p:sp>
        <p:nvSpPr>
          <p:cNvPr id="19" name="Card"/>
          <p:cNvSpPr/>
          <p:nvPr/>
        </p:nvSpPr>
        <p:spPr>
          <a:xfrm>
            <a:off x="9029471" y="1965960"/>
            <a:ext cx="2522144" cy="3291840"/>
          </a:xfrm>
          <a:prstGeom prst="roundRect">
            <a:avLst>
              <a:gd name="adj" fmla="val 2900"/>
            </a:avLst>
          </a:prstGeom>
          <a:solidFill>
            <a:srgbClr val="FFFFFF"/>
          </a:solidFill>
          <a:ln w="12700">
            <a:solidFill>
              <a:srgbClr val="E5E5E5"/>
            </a:solidFill>
            <a:prstDash val="solid"/>
          </a:ln>
          <a:effectLst>
            <a:outerShdw sx="100000" sy="100000" kx="0" ky="0" algn="bl" rotWithShape="0" blurRad="101600" dist="25400" dir="5400000">
              <a:srgbClr val="171717">
                <a:alpha val="6000"/>
              </a:srgbClr>
            </a:outerShdw>
          </a:effectLst>
        </p:spPr>
      </p:sp>
      <p:sp>
        <p:nvSpPr>
          <p:cNvPr id="20" name="Shape 18"/>
          <p:cNvSpPr/>
          <p:nvPr/>
        </p:nvSpPr>
        <p:spPr>
          <a:xfrm>
            <a:off x="9303791" y="2240280"/>
            <a:ext cx="457200" cy="457200"/>
          </a:xfrm>
          <a:prstGeom prst="ellipse">
            <a:avLst/>
          </a:prstGeom>
          <a:solidFill>
            <a:srgbClr val="EDE9FE"/>
          </a:solidFill>
          <a:ln w="12700">
            <a:solidFill>
              <a:srgbClr val="EDE9FE"/>
            </a:solidFill>
            <a:prstDash val="solid"/>
          </a:ln>
        </p:spPr>
      </p:sp>
      <p:sp>
        <p:nvSpPr>
          <p:cNvPr id="21" name="Text 19"/>
          <p:cNvSpPr txBox="1"/>
          <p:nvPr/>
        </p:nvSpPr>
        <p:spPr>
          <a:xfrm>
            <a:off x="9303791" y="224028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IBM Plex Mono" pitchFamily="34" charset="0"/>
                <a:ea typeface="IBM Plex Mono" pitchFamily="34" charset="-122"/>
                <a:cs typeface="IBM Plex Mono" pitchFamily="34" charset="-120"/>
              </a:rPr>
              <a:t>4</a:t>
            </a:r>
            <a:endParaRPr lang="en-US" sz="1400" dirty="0"/>
          </a:p>
        </p:txBody>
      </p:sp>
      <p:sp>
        <p:nvSpPr>
          <p:cNvPr id="22" name="Text 20"/>
          <p:cNvSpPr txBox="1"/>
          <p:nvPr/>
        </p:nvSpPr>
        <p:spPr>
          <a:xfrm>
            <a:off x="9303791" y="2834640"/>
            <a:ext cx="1973504" cy="685800"/>
          </a:xfrm>
          <a:prstGeom prst="rect">
            <a:avLst/>
          </a:prstGeom>
          <a:noFill/>
          <a:ln/>
        </p:spPr>
        <p:txBody>
          <a:bodyPr wrap="square" lIns="0" tIns="0" rIns="0" bIns="0" rtlCol="0" anchor="t"/>
          <a:lstStyle/>
          <a:p>
            <a:pPr indent="0" marL="0">
              <a:buNone/>
            </a:pPr>
            <a:r>
              <a:rPr lang="en-US" sz="1800" b="1" dirty="0">
                <a:solidFill>
                  <a:srgbClr val="171717"/>
                </a:solidFill>
                <a:latin typeface="Space Grotesk" pitchFamily="34" charset="0"/>
                <a:ea typeface="Space Grotesk" pitchFamily="34" charset="-122"/>
                <a:cs typeface="Space Grotesk" pitchFamily="34" charset="-120"/>
              </a:rPr>
              <a:t>Attach evidence</a:t>
            </a:r>
            <a:endParaRPr lang="en-US" sz="1800" dirty="0"/>
          </a:p>
        </p:txBody>
      </p:sp>
      <p:sp>
        <p:nvSpPr>
          <p:cNvPr id="23" name="Text 21"/>
          <p:cNvSpPr txBox="1"/>
          <p:nvPr/>
        </p:nvSpPr>
        <p:spPr>
          <a:xfrm>
            <a:off x="9303791" y="3566160"/>
            <a:ext cx="1973504" cy="1463040"/>
          </a:xfrm>
          <a:prstGeom prst="rect">
            <a:avLst/>
          </a:prstGeom>
          <a:noFill/>
          <a:ln/>
        </p:spPr>
        <p:txBody>
          <a:bodyPr wrap="square" lIns="0" tIns="0" rIns="0" bIns="0" rtlCol="0" anchor="t"/>
          <a:lstStyle/>
          <a:p>
            <a:pPr indent="0" marL="0">
              <a:spcAft>
                <a:spcPts val="600"/>
              </a:spcAft>
              <a:buNone/>
            </a:pPr>
            <a:r>
              <a:rPr lang="en-US" sz="1400" dirty="0">
                <a:solidFill>
                  <a:srgbClr val="404040"/>
                </a:solidFill>
                <a:latin typeface="IBM Plex Sans" pitchFamily="34" charset="0"/>
                <a:ea typeface="IBM Plex Sans" pitchFamily="34" charset="-122"/>
                <a:cs typeface="IBM Plex Sans" pitchFamily="34" charset="-120"/>
              </a:rPr>
              <a:t>A screenshot or sample report removes a round of questions.</a:t>
            </a:r>
            <a:endParaRPr lang="en-US" sz="1400" dirty="0"/>
          </a:p>
        </p:txBody>
      </p:sp>
      <p:sp>
        <p:nvSpPr>
          <p:cNvPr id="25" name="Slide Number Placeholder 0"/>
          <p:cNvSpPr>
            <a:spLocks noGrp="1"/>
          </p:cNvSpPr>
          <p:nvPr>
            <p:ph type="sldNum" sz="quarter" idx="4294967295"/>
          </p:nvPr>
        </p:nvSpPr>
        <p:spPr>
          <a:xfrm>
            <a:off x="1082009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3A3A3"/>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ataCentral">    </p:cNvPr>
          <p:cNvPicPr>
            <a:picLocks noChangeAspect="1"/>
          </p:cNvPicPr>
          <p:nvPr/>
        </p:nvPicPr>
        <p:blipFill>
          <a:blip r:embed="rId1"/>
          <a:stretch>
            <a:fillRect/>
          </a:stretch>
        </p:blipFill>
        <p:spPr>
          <a:xfrm>
            <a:off x="640080" y="548640"/>
            <a:ext cx="2011680" cy="265063"/>
          </a:xfrm>
          <a:prstGeom prst="rect">
            <a:avLst/>
          </a:prstGeom>
        </p:spPr>
      </p:pic>
      <p:sp>
        <p:nvSpPr>
          <p:cNvPr id="3" name="Text 0"/>
          <p:cNvSpPr txBox="1"/>
          <p:nvPr/>
        </p:nvSpPr>
        <p:spPr>
          <a:xfrm>
            <a:off x="640080" y="2468880"/>
            <a:ext cx="10058400" cy="1645920"/>
          </a:xfrm>
          <a:prstGeom prst="rect">
            <a:avLst/>
          </a:prstGeom>
          <a:noFill/>
          <a:ln/>
        </p:spPr>
        <p:txBody>
          <a:bodyPr wrap="square" lIns="0" tIns="0" rIns="0" bIns="0" rtlCol="0" anchor="t"/>
          <a:lstStyle/>
          <a:p>
            <a:pPr indent="0" marL="0">
              <a:buNone/>
            </a:pPr>
            <a:r>
              <a:rPr lang="en-US" sz="3800" b="1" dirty="0">
                <a:solidFill>
                  <a:srgbClr val="FFFFFF"/>
                </a:solidFill>
                <a:latin typeface="Space Grotesk" pitchFamily="34" charset="0"/>
                <a:ea typeface="Space Grotesk" pitchFamily="34" charset="-122"/>
                <a:cs typeface="Space Grotesk" pitchFamily="34" charset="-120"/>
              </a:rPr>
              <a:t>Your next request starts with a search.</a:t>
            </a:r>
            <a:endParaRPr lang="en-US" sz="3800" dirty="0"/>
          </a:p>
        </p:txBody>
      </p:sp>
      <p:sp>
        <p:nvSpPr>
          <p:cNvPr id="4" name="Text 1"/>
          <p:cNvSpPr txBox="1"/>
          <p:nvPr/>
        </p:nvSpPr>
        <p:spPr>
          <a:xfrm>
            <a:off x="640080" y="4206240"/>
            <a:ext cx="8778240" cy="1005840"/>
          </a:xfrm>
          <a:prstGeom prst="rect">
            <a:avLst/>
          </a:prstGeom>
          <a:noFill/>
          <a:ln/>
        </p:spPr>
        <p:txBody>
          <a:bodyPr wrap="square" lIns="0" tIns="0" rIns="0" bIns="0" rtlCol="0" anchor="t"/>
          <a:lstStyle/>
          <a:p>
            <a:pPr indent="0" marL="0">
              <a:buNone/>
            </a:pPr>
            <a:r>
              <a:rPr lang="en-US" sz="1800" dirty="0">
                <a:solidFill>
                  <a:srgbClr val="A3A3A3"/>
                </a:solidFill>
                <a:latin typeface="IBM Plex Sans" pitchFamily="34" charset="0"/>
                <a:ea typeface="IBM Plex Sans" pitchFamily="34" charset="-122"/>
                <a:cs typeface="IBM Plex Sans" pitchFamily="34" charset="-120"/>
              </a:rPr>
              <a:t>Open Pulse from DataCentral, or use the ? button for the full help pages.</a:t>
            </a:r>
            <a:endParaRPr lang="en-US" sz="1800" dirty="0"/>
          </a:p>
        </p:txBody>
      </p:sp>
      <p:sp>
        <p:nvSpPr>
          <p:cNvPr id="5" name="Text 2"/>
          <p:cNvSpPr txBox="1"/>
          <p:nvPr/>
        </p:nvSpPr>
        <p:spPr>
          <a:xfrm>
            <a:off x="640080" y="5989320"/>
            <a:ext cx="7315200" cy="274320"/>
          </a:xfrm>
          <a:prstGeom prst="rect">
            <a:avLst/>
          </a:prstGeom>
          <a:noFill/>
          <a:ln/>
        </p:spPr>
        <p:txBody>
          <a:bodyPr wrap="square" lIns="0" tIns="0" rIns="0" bIns="0" rtlCol="0" anchor="ctr"/>
          <a:lstStyle/>
          <a:p>
            <a:pPr indent="0" marL="0">
              <a:buNone/>
            </a:pPr>
            <a:r>
              <a:rPr lang="en-US" sz="1200" dirty="0">
                <a:solidFill>
                  <a:srgbClr val="A3A3A3"/>
                </a:solidFill>
                <a:latin typeface="IBM Plex Mono" pitchFamily="34" charset="0"/>
                <a:ea typeface="IBM Plex Mono" pitchFamily="34" charset="-122"/>
                <a:cs typeface="IBM Plex Mono" pitchFamily="34" charset="-120"/>
              </a:rPr>
              <a:t>DataCentral Pulse · Customer guide</a:t>
            </a:r>
            <a:endParaRPr lang="en-US" sz="1200" dirty="0"/>
          </a:p>
        </p:txBody>
      </p:sp>
      <p:sp>
        <p:nvSpPr>
          <p:cNvPr id="6" name="Brand stripe 1"/>
          <p:cNvSpPr/>
          <p:nvPr/>
        </p:nvSpPr>
        <p:spPr>
          <a:xfrm>
            <a:off x="0" y="6766560"/>
            <a:ext cx="3047924" cy="91440"/>
          </a:xfrm>
          <a:prstGeom prst="rect">
            <a:avLst/>
          </a:prstGeom>
          <a:solidFill>
            <a:srgbClr val="F9C815"/>
          </a:solidFill>
          <a:ln w="12700">
            <a:solidFill>
              <a:srgbClr val="F9C815"/>
            </a:solidFill>
            <a:prstDash val="solid"/>
          </a:ln>
        </p:spPr>
      </p:sp>
      <p:sp>
        <p:nvSpPr>
          <p:cNvPr id="7" name="Brand stripe 2"/>
          <p:cNvSpPr/>
          <p:nvPr/>
        </p:nvSpPr>
        <p:spPr>
          <a:xfrm>
            <a:off x="3047924" y="6766560"/>
            <a:ext cx="3047924" cy="91440"/>
          </a:xfrm>
          <a:prstGeom prst="rect">
            <a:avLst/>
          </a:prstGeom>
          <a:solidFill>
            <a:srgbClr val="F07124"/>
          </a:solidFill>
          <a:ln w="12700">
            <a:solidFill>
              <a:srgbClr val="F07124"/>
            </a:solidFill>
            <a:prstDash val="solid"/>
          </a:ln>
        </p:spPr>
      </p:sp>
      <p:sp>
        <p:nvSpPr>
          <p:cNvPr id="8" name="Brand stripe 3"/>
          <p:cNvSpPr/>
          <p:nvPr/>
        </p:nvSpPr>
        <p:spPr>
          <a:xfrm>
            <a:off x="6095848" y="6766560"/>
            <a:ext cx="3047924" cy="91440"/>
          </a:xfrm>
          <a:prstGeom prst="rect">
            <a:avLst/>
          </a:prstGeom>
          <a:solidFill>
            <a:srgbClr val="ED0E78"/>
          </a:solidFill>
          <a:ln w="12700">
            <a:solidFill>
              <a:srgbClr val="ED0E78"/>
            </a:solidFill>
            <a:prstDash val="solid"/>
          </a:ln>
        </p:spPr>
      </p:sp>
      <p:sp>
        <p:nvSpPr>
          <p:cNvPr id="9" name="Brand stripe 4"/>
          <p:cNvSpPr/>
          <p:nvPr/>
        </p:nvSpPr>
        <p:spPr>
          <a:xfrm>
            <a:off x="9143771" y="6766560"/>
            <a:ext cx="3047924" cy="91440"/>
          </a:xfrm>
          <a:prstGeom prst="rect">
            <a:avLst/>
          </a:prstGeom>
          <a:solidFill>
            <a:srgbClr val="6640A2"/>
          </a:solidFill>
          <a:ln w="12700">
            <a:solidFill>
              <a:srgbClr val="6640A2"/>
            </a:solidFill>
            <a:prstDash val="solid"/>
          </a:ln>
        </p:spPr>
      </p:sp>
    </p:spTree>
  </p:cSld>
  <p:clrMapOvr>
    <a:masterClrMapping/>
  </p:clrMapOvr>
</p:sld>
</file>

<file path=ppt/theme/theme1.xml><?xml version="1.0" encoding="utf-8"?>
<a:theme xmlns:a="http://schemas.openxmlformats.org/drawingml/2006/main" name="DataCentral Pulse">
  <a:themeElements>
    <a:clrScheme name="DataCentral Pulse">
      <a:dk1>
        <a:srgbClr val="171717"/>
      </a:dk1>
      <a:lt1>
        <a:srgbClr val="FFFFFF"/>
      </a:lt1>
      <a:dk2>
        <a:srgbClr val="0A0A0A"/>
      </a:dk2>
      <a:lt2>
        <a:srgbClr val="FAFAFA"/>
      </a:lt2>
      <a:accent1>
        <a:srgbClr val="7C3AED"/>
      </a:accent1>
      <a:accent2>
        <a:srgbClr val="6D28D9"/>
      </a:accent2>
      <a:accent3>
        <a:srgbClr val="8B5CF6"/>
      </a:accent3>
      <a:accent4>
        <a:srgbClr val="F59E0B"/>
      </a:accent4>
      <a:accent5>
        <a:srgbClr val="10B981"/>
      </a:accent5>
      <a:accent6>
        <a:srgbClr val="737373"/>
      </a:accent6>
      <a:hlink>
        <a:srgbClr val="7C3AED"/>
      </a:hlink>
      <a:folHlink>
        <a:srgbClr val="6D28D9"/>
      </a:folHlink>
    </a:clrScheme>
    <a:fontScheme name="DataCentral Puls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DataCentral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DataCentral Pulse — customer guide</dc:title>
  <dc:subject>PptxGenJS Presentation</dc:subject>
  <dc:creator>DataCentral</dc:creator>
  <cp:lastModifiedBy>DataCentral</cp:lastModifiedBy>
  <cp:revision>1</cp:revision>
  <dcterms:created xsi:type="dcterms:W3CDTF">2026-10-15T10:22:05Z</dcterms:created>
  <dcterms:modified xsi:type="dcterms:W3CDTF">2026-10-15T10:22:05Z</dcterms:modified>
</cp:coreProperties>
</file>